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mbria Bold" charset="1" panose="02040803050406030204"/>
      <p:regular r:id="rId19"/>
    </p:embeddedFont>
    <p:embeddedFont>
      <p:font typeface="Calibri (MS)" charset="1" panose="020F0502020204030204"/>
      <p:regular r:id="rId20"/>
    </p:embeddedFont>
    <p:embeddedFont>
      <p:font typeface="Calibri (MS) Bold" charset="1" panose="020F0702030404030204"/>
      <p:regular r:id="rId21"/>
    </p:embeddedFont>
    <p:embeddedFont>
      <p:font typeface="Calibri (MS) Italics" charset="1" panose="020F05020202040A0204"/>
      <p:regular r:id="rId22"/>
    </p:embeddedFont>
    <p:embeddedFont>
      <p:font typeface="Cambria" charset="1" panose="02040503050406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53073" y="4100512"/>
            <a:ext cx="8532495" cy="8532495"/>
            <a:chOff x="0" y="0"/>
            <a:chExt cx="11376660" cy="11376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76660" cy="11376660"/>
            </a:xfrm>
            <a:custGeom>
              <a:avLst/>
              <a:gdLst/>
              <a:ahLst/>
              <a:cxnLst/>
              <a:rect r="r" b="b" t="t" l="l"/>
              <a:pathLst>
                <a:path h="11376660" w="11376660">
                  <a:moveTo>
                    <a:pt x="0" y="5688330"/>
                  </a:moveTo>
                  <a:cubicBezTo>
                    <a:pt x="0" y="2546731"/>
                    <a:pt x="2546731" y="0"/>
                    <a:pt x="5688330" y="0"/>
                  </a:cubicBezTo>
                  <a:cubicBezTo>
                    <a:pt x="8829929" y="0"/>
                    <a:pt x="11376660" y="2546731"/>
                    <a:pt x="11376660" y="5688330"/>
                  </a:cubicBezTo>
                  <a:cubicBezTo>
                    <a:pt x="11376660" y="8829929"/>
                    <a:pt x="8829929" y="11376660"/>
                    <a:pt x="5688330" y="11376660"/>
                  </a:cubicBezTo>
                  <a:cubicBezTo>
                    <a:pt x="2546731" y="11376660"/>
                    <a:pt x="0" y="8829929"/>
                    <a:pt x="0" y="568833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23315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250352" y="5197792"/>
            <a:ext cx="6337935" cy="6337935"/>
            <a:chOff x="0" y="0"/>
            <a:chExt cx="8450580" cy="84505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0580" cy="8450580"/>
            </a:xfrm>
            <a:custGeom>
              <a:avLst/>
              <a:gdLst/>
              <a:ahLst/>
              <a:cxnLst/>
              <a:rect r="r" b="b" t="t" l="l"/>
              <a:pathLst>
                <a:path h="8450580" w="8450580">
                  <a:moveTo>
                    <a:pt x="0" y="4225290"/>
                  </a:moveTo>
                  <a:cubicBezTo>
                    <a:pt x="0" y="1891665"/>
                    <a:pt x="1891665" y="0"/>
                    <a:pt x="4225290" y="0"/>
                  </a:cubicBezTo>
                  <a:cubicBezTo>
                    <a:pt x="6558915" y="0"/>
                    <a:pt x="8450580" y="1891665"/>
                    <a:pt x="8450580" y="4225290"/>
                  </a:cubicBezTo>
                  <a:cubicBezTo>
                    <a:pt x="8450580" y="6558915"/>
                    <a:pt x="6558915" y="8450580"/>
                    <a:pt x="4225290" y="8450580"/>
                  </a:cubicBezTo>
                  <a:cubicBezTo>
                    <a:pt x="1891665" y="8450580"/>
                    <a:pt x="0" y="6558915"/>
                    <a:pt x="0" y="422529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23315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347632" y="6295072"/>
            <a:ext cx="4143375" cy="4143375"/>
            <a:chOff x="0" y="0"/>
            <a:chExt cx="5524500" cy="5524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24500" cy="5524500"/>
            </a:xfrm>
            <a:custGeom>
              <a:avLst/>
              <a:gdLst/>
              <a:ahLst/>
              <a:cxnLst/>
              <a:rect r="r" b="b" t="t" l="l"/>
              <a:pathLst>
                <a:path h="5524500" w="5524500">
                  <a:moveTo>
                    <a:pt x="0" y="2762250"/>
                  </a:moveTo>
                  <a:cubicBezTo>
                    <a:pt x="0" y="1236726"/>
                    <a:pt x="1236726" y="0"/>
                    <a:pt x="2762250" y="0"/>
                  </a:cubicBezTo>
                  <a:cubicBezTo>
                    <a:pt x="4287774" y="0"/>
                    <a:pt x="5524500" y="1236726"/>
                    <a:pt x="5524500" y="2762250"/>
                  </a:cubicBezTo>
                  <a:cubicBezTo>
                    <a:pt x="5524500" y="4287774"/>
                    <a:pt x="4287774" y="5524500"/>
                    <a:pt x="2762250" y="5524500"/>
                  </a:cubicBezTo>
                  <a:cubicBezTo>
                    <a:pt x="1236726" y="5524500"/>
                    <a:pt x="0" y="4287774"/>
                    <a:pt x="0" y="276225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2C3B6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24915" y="1291935"/>
            <a:ext cx="14538960" cy="5617155"/>
            <a:chOff x="0" y="0"/>
            <a:chExt cx="19385280" cy="74895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85280" cy="7489540"/>
            </a:xfrm>
            <a:custGeom>
              <a:avLst/>
              <a:gdLst/>
              <a:ahLst/>
              <a:cxnLst/>
              <a:rect r="r" b="b" t="t" l="l"/>
              <a:pathLst>
                <a:path h="748954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7489540"/>
                  </a:lnTo>
                  <a:lnTo>
                    <a:pt x="0" y="74895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94" r="0" b="2392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385280" cy="7546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38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Gender Classification by Facial</a:t>
              </a:r>
            </a:p>
            <a:p>
              <a:pPr algn="l">
                <a:lnSpc>
                  <a:spcPts val="7938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Attribute Using SVM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8680">
            <a:off x="1242660" y="5408295"/>
            <a:ext cx="2232984" cy="0"/>
          </a:xfrm>
          <a:prstGeom prst="line">
            <a:avLst/>
          </a:prstGeom>
          <a:ln cap="rnd" w="19050">
            <a:solidFill>
              <a:srgbClr val="9FB3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234440" y="5760720"/>
            <a:ext cx="11795760" cy="1508760"/>
            <a:chOff x="0" y="0"/>
            <a:chExt cx="15727680" cy="2011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27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15727680" cy="2116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2"/>
                </a:lnSpc>
              </a:pPr>
              <a:r>
                <a:rPr lang="en-US" sz="2175">
                  <a:solidFill>
                    <a:srgbClr val="CBD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end-to-end facial attribute classification system combining transfer-learned ResNet-18 deep feature extraction with a maximum-margin Support Vector Machine classifier on the UTKFace benchmark.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915" y="7877175"/>
            <a:ext cx="3928110" cy="1459230"/>
            <a:chOff x="0" y="0"/>
            <a:chExt cx="5237480" cy="1945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5089271" y="0"/>
                  </a:lnTo>
                  <a:cubicBezTo>
                    <a:pt x="5171186" y="0"/>
                    <a:pt x="5237480" y="66421"/>
                    <a:pt x="5237480" y="148209"/>
                  </a:cubicBezTo>
                  <a:lnTo>
                    <a:pt x="5237480" y="1797431"/>
                  </a:lnTo>
                  <a:cubicBezTo>
                    <a:pt x="5237480" y="1879346"/>
                    <a:pt x="5171059" y="1945640"/>
                    <a:pt x="50892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16214A"/>
            </a:solidFill>
            <a:ln w="19050" cap="sq">
              <a:solidFill>
                <a:srgbClr val="2B3B7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508760" y="8078724"/>
            <a:ext cx="3360420" cy="576072"/>
            <a:chOff x="0" y="0"/>
            <a:chExt cx="448056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80560" cy="768096"/>
            </a:xfrm>
            <a:custGeom>
              <a:avLst/>
              <a:gdLst/>
              <a:ahLst/>
              <a:cxnLst/>
              <a:rect r="r" b="b" t="t" l="l"/>
              <a:pathLst>
                <a:path h="76809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480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Shreeyut Thapa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08760" y="8654796"/>
            <a:ext cx="3360420" cy="466344"/>
            <a:chOff x="0" y="0"/>
            <a:chExt cx="4480560" cy="621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48056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 No: 080BCT080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18023" y="7877175"/>
            <a:ext cx="3928110" cy="1459230"/>
            <a:chOff x="0" y="0"/>
            <a:chExt cx="5237480" cy="1945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5089271" y="0"/>
                  </a:lnTo>
                  <a:cubicBezTo>
                    <a:pt x="5171186" y="0"/>
                    <a:pt x="5237480" y="66421"/>
                    <a:pt x="5237480" y="148209"/>
                  </a:cubicBezTo>
                  <a:lnTo>
                    <a:pt x="5237480" y="1797431"/>
                  </a:lnTo>
                  <a:cubicBezTo>
                    <a:pt x="5237480" y="1879346"/>
                    <a:pt x="5171059" y="1945640"/>
                    <a:pt x="50892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16214A"/>
            </a:solidFill>
            <a:ln w="19050" cap="sq">
              <a:solidFill>
                <a:srgbClr val="2B3B7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801868" y="8078724"/>
            <a:ext cx="3360420" cy="576072"/>
            <a:chOff x="0" y="0"/>
            <a:chExt cx="4480560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80560" cy="768096"/>
            </a:xfrm>
            <a:custGeom>
              <a:avLst/>
              <a:gdLst/>
              <a:ahLst/>
              <a:cxnLst/>
              <a:rect r="r" b="b" t="t" l="l"/>
              <a:pathLst>
                <a:path h="76809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480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Prabesh BC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801868" y="8654796"/>
            <a:ext cx="3360420" cy="466344"/>
            <a:chOff x="0" y="0"/>
            <a:chExt cx="4480560" cy="621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48056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 No: 080BCT054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11131" y="7877175"/>
            <a:ext cx="3928110" cy="1459230"/>
            <a:chOff x="0" y="0"/>
            <a:chExt cx="5237480" cy="1945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5089271" y="0"/>
                  </a:lnTo>
                  <a:cubicBezTo>
                    <a:pt x="5171186" y="0"/>
                    <a:pt x="5237480" y="66421"/>
                    <a:pt x="5237480" y="148209"/>
                  </a:cubicBezTo>
                  <a:lnTo>
                    <a:pt x="5237480" y="1797431"/>
                  </a:lnTo>
                  <a:cubicBezTo>
                    <a:pt x="5237480" y="1879346"/>
                    <a:pt x="5171059" y="1945640"/>
                    <a:pt x="50892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16214A"/>
            </a:solidFill>
            <a:ln w="19050" cap="sq">
              <a:solidFill>
                <a:srgbClr val="2B3B7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094976" y="8078724"/>
            <a:ext cx="3360420" cy="576072"/>
            <a:chOff x="0" y="0"/>
            <a:chExt cx="4480560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80560" cy="768096"/>
            </a:xfrm>
            <a:custGeom>
              <a:avLst/>
              <a:gdLst/>
              <a:ahLst/>
              <a:cxnLst/>
              <a:rect r="r" b="b" t="t" l="l"/>
              <a:pathLst>
                <a:path h="76809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480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Subesh Yadav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94976" y="8654796"/>
            <a:ext cx="3360420" cy="466344"/>
            <a:chOff x="0" y="0"/>
            <a:chExt cx="4480560" cy="6217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48056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 No: 080BCT084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504463" y="9601200"/>
            <a:ext cx="1234440" cy="411480"/>
            <a:chOff x="0" y="0"/>
            <a:chExt cx="164592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5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6459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14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Overview &amp; Core Motivation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Decoupled deep representation learning and convex maximum-margin classification.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537460"/>
            <a:ext cx="16637508" cy="1399032"/>
            <a:chOff x="0" y="0"/>
            <a:chExt cx="22183344" cy="1865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3345" cy="1865376"/>
            </a:xfrm>
            <a:custGeom>
              <a:avLst/>
              <a:gdLst/>
              <a:ahLst/>
              <a:cxnLst/>
              <a:rect r="r" b="b" t="t" l="l"/>
              <a:pathLst>
                <a:path h="1865376" w="22183345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2018752" y="0"/>
                  </a:lnTo>
                  <a:cubicBezTo>
                    <a:pt x="22109685" y="0"/>
                    <a:pt x="22183345" y="73660"/>
                    <a:pt x="22183345" y="164592"/>
                  </a:cubicBezTo>
                  <a:lnTo>
                    <a:pt x="22183345" y="1700784"/>
                  </a:lnTo>
                  <a:cubicBezTo>
                    <a:pt x="22183345" y="1791716"/>
                    <a:pt x="22109685" y="1865376"/>
                    <a:pt x="22018752" y="1865376"/>
                  </a:cubicBezTo>
                  <a:lnTo>
                    <a:pt x="164592" y="1865376"/>
                  </a:lnTo>
                  <a:cubicBezTo>
                    <a:pt x="73660" y="1865376"/>
                    <a:pt x="0" y="1791716"/>
                    <a:pt x="0" y="1700784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866644"/>
            <a:ext cx="740664" cy="740664"/>
            <a:chOff x="0" y="0"/>
            <a:chExt cx="987552" cy="9875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621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2866644"/>
            <a:ext cx="740664" cy="740664"/>
            <a:chOff x="0" y="0"/>
            <a:chExt cx="987552" cy="9875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87552" cy="1054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25980" y="2674620"/>
            <a:ext cx="14950440" cy="1124712"/>
            <a:chOff x="0" y="0"/>
            <a:chExt cx="19933920" cy="14996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3392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008" r="0" b="-20900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9933920" cy="15662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 b="true">
                  <a:solidFill>
                    <a:srgbClr val="CFE0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Objective   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an automated, robust facial gender classification pipeline that ingests raw facial imagery across broad demographic spectrums, standardizes spatial context, extracts compact discriminative embeddings, and delivers high generalization accuracy.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3435" y="4311015"/>
            <a:ext cx="8111490" cy="4888230"/>
            <a:chOff x="0" y="0"/>
            <a:chExt cx="10815320" cy="6517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15320" cy="6517640"/>
            </a:xfrm>
            <a:custGeom>
              <a:avLst/>
              <a:gdLst/>
              <a:ahLst/>
              <a:cxnLst/>
              <a:rect r="r" b="b" t="t" l="l"/>
              <a:pathLst>
                <a:path h="6517640" w="10815320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650093" y="0"/>
                  </a:lnTo>
                  <a:cubicBezTo>
                    <a:pt x="10741406" y="0"/>
                    <a:pt x="10815320" y="73914"/>
                    <a:pt x="10815320" y="165227"/>
                  </a:cubicBezTo>
                  <a:lnTo>
                    <a:pt x="10815320" y="6352413"/>
                  </a:lnTo>
                  <a:cubicBezTo>
                    <a:pt x="10815320" y="6443726"/>
                    <a:pt x="10741406" y="6517640"/>
                    <a:pt x="10650093" y="6517640"/>
                  </a:cubicBezTo>
                  <a:lnTo>
                    <a:pt x="165227" y="6517640"/>
                  </a:lnTo>
                  <a:cubicBezTo>
                    <a:pt x="73914" y="6517640"/>
                    <a:pt x="0" y="6443726"/>
                    <a:pt x="0" y="63524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4320540"/>
            <a:ext cx="8092440" cy="754380"/>
            <a:chOff x="0" y="0"/>
            <a:chExt cx="1078992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89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7899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625328" y="0"/>
                  </a:lnTo>
                  <a:cubicBezTo>
                    <a:pt x="10716260" y="0"/>
                    <a:pt x="10789920" y="73660"/>
                    <a:pt x="10789920" y="164592"/>
                  </a:cubicBezTo>
                  <a:lnTo>
                    <a:pt x="10789920" y="841248"/>
                  </a:lnTo>
                  <a:cubicBezTo>
                    <a:pt x="10789920" y="932180"/>
                    <a:pt x="10716260" y="1005840"/>
                    <a:pt x="10625328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EEF2F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5860" y="4320540"/>
            <a:ext cx="7406640" cy="754380"/>
            <a:chOff x="0" y="0"/>
            <a:chExt cx="987552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307" r="0" b="-14130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8755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50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TECHNICAL CHALLENGE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65860" y="5431536"/>
            <a:ext cx="150876" cy="150876"/>
            <a:chOff x="0" y="0"/>
            <a:chExt cx="201168" cy="2011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08760" y="5266944"/>
            <a:ext cx="7200900" cy="1261872"/>
            <a:chOff x="0" y="0"/>
            <a:chExt cx="9601200" cy="16824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01200" cy="1682496"/>
            </a:xfrm>
            <a:custGeom>
              <a:avLst/>
              <a:gdLst/>
              <a:ahLst/>
              <a:cxnLst/>
              <a:rect r="r" b="b" t="t" l="l"/>
              <a:pathLst>
                <a:path h="168249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91" r="0" b="-6119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601200" cy="1749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Morphological Variance</a:t>
              </a:r>
            </a:p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Extreme non-linear diversity driven by age, ethnicity, illumination, and head orientation.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5860" y="6734556"/>
            <a:ext cx="150876" cy="150876"/>
            <a:chOff x="0" y="0"/>
            <a:chExt cx="201168" cy="2011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08760" y="6569964"/>
            <a:ext cx="7200900" cy="1261872"/>
            <a:chOff x="0" y="0"/>
            <a:chExt cx="9601200" cy="16824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01200" cy="1682496"/>
            </a:xfrm>
            <a:custGeom>
              <a:avLst/>
              <a:gdLst/>
              <a:ahLst/>
              <a:cxnLst/>
              <a:rect r="r" b="b" t="t" l="l"/>
              <a:pathLst>
                <a:path h="168249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91" r="0" b="-611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601200" cy="1749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Subtle Dimorphism</a:t>
              </a:r>
            </a:p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Secondary sexual characteristics (jawline contour, brow prominence, cheekbone geometry) require sensitive spatial representations.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65860" y="8037576"/>
            <a:ext cx="150876" cy="150876"/>
            <a:chOff x="0" y="0"/>
            <a:chExt cx="201168" cy="2011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08760" y="7872984"/>
            <a:ext cx="7200900" cy="1261872"/>
            <a:chOff x="0" y="0"/>
            <a:chExt cx="9601200" cy="16824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01200" cy="1682496"/>
            </a:xfrm>
            <a:custGeom>
              <a:avLst/>
              <a:gdLst/>
              <a:ahLst/>
              <a:cxnLst/>
              <a:rect r="r" b="b" t="t" l="l"/>
              <a:pathLst>
                <a:path h="168249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91" r="0" b="-6119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601200" cy="1749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Classical Limitations</a:t>
              </a:r>
            </a:p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Handcrafted descriptors (HOG, LBP, Haar cascades) degrade under unconstrained pose, lighting, and expression variations.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58503" y="4311015"/>
            <a:ext cx="8111490" cy="4888230"/>
            <a:chOff x="0" y="0"/>
            <a:chExt cx="10815320" cy="6517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15320" cy="6517640"/>
            </a:xfrm>
            <a:custGeom>
              <a:avLst/>
              <a:gdLst/>
              <a:ahLst/>
              <a:cxnLst/>
              <a:rect r="r" b="b" t="t" l="l"/>
              <a:pathLst>
                <a:path h="6517640" w="10815320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650093" y="0"/>
                  </a:lnTo>
                  <a:cubicBezTo>
                    <a:pt x="10741406" y="0"/>
                    <a:pt x="10815320" y="73914"/>
                    <a:pt x="10815320" y="165227"/>
                  </a:cubicBezTo>
                  <a:lnTo>
                    <a:pt x="10815320" y="6352413"/>
                  </a:lnTo>
                  <a:cubicBezTo>
                    <a:pt x="10815320" y="6443726"/>
                    <a:pt x="10741406" y="6517640"/>
                    <a:pt x="10650093" y="6517640"/>
                  </a:cubicBezTo>
                  <a:lnTo>
                    <a:pt x="165227" y="6517640"/>
                  </a:lnTo>
                  <a:cubicBezTo>
                    <a:pt x="73914" y="6517640"/>
                    <a:pt x="0" y="6443726"/>
                    <a:pt x="0" y="63524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68028" y="4320540"/>
            <a:ext cx="8092440" cy="754380"/>
            <a:chOff x="0" y="0"/>
            <a:chExt cx="1078992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89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7899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625328" y="0"/>
                  </a:lnTo>
                  <a:cubicBezTo>
                    <a:pt x="10716260" y="0"/>
                    <a:pt x="10789920" y="73660"/>
                    <a:pt x="10789920" y="164592"/>
                  </a:cubicBezTo>
                  <a:lnTo>
                    <a:pt x="10789920" y="841248"/>
                  </a:lnTo>
                  <a:cubicBezTo>
                    <a:pt x="10789920" y="932180"/>
                    <a:pt x="10716260" y="1005840"/>
                    <a:pt x="10625328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710928" y="4320540"/>
            <a:ext cx="7406640" cy="754380"/>
            <a:chOff x="0" y="0"/>
            <a:chExt cx="987552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307" r="0" b="-14130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8755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PROPOSED SOLUTION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710928" y="5431536"/>
            <a:ext cx="150876" cy="150876"/>
            <a:chOff x="0" y="0"/>
            <a:chExt cx="201168" cy="2011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053828" y="5266944"/>
            <a:ext cx="7132320" cy="1261872"/>
            <a:chOff x="0" y="0"/>
            <a:chExt cx="9509760" cy="16824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09760" cy="1682496"/>
            </a:xfrm>
            <a:custGeom>
              <a:avLst/>
              <a:gdLst/>
              <a:ahLst/>
              <a:cxnLst/>
              <a:rect r="r" b="b" t="t" l="l"/>
              <a:pathLst>
                <a:path h="168249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32" r="0" b="-6013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9509760" cy="1749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Feature Extraction</a:t>
              </a:r>
            </a:p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Transfer-learned ResNet-18 transforms 224×224 RGB faces into compact 512-dimensional bottleneck embeddings.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10928" y="6734556"/>
            <a:ext cx="150876" cy="150876"/>
            <a:chOff x="0" y="0"/>
            <a:chExt cx="201168" cy="2011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053828" y="6569964"/>
            <a:ext cx="7132320" cy="1261872"/>
            <a:chOff x="0" y="0"/>
            <a:chExt cx="9509760" cy="16824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509760" cy="1682496"/>
            </a:xfrm>
            <a:custGeom>
              <a:avLst/>
              <a:gdLst/>
              <a:ahLst/>
              <a:cxnLst/>
              <a:rect r="r" b="b" t="t" l="l"/>
              <a:pathLst>
                <a:path h="168249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32" r="0" b="-6013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9509760" cy="1749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Maximum-Margin Boundary</a:t>
              </a:r>
            </a:p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RBF-kernel SVM finds a globally optimal separating hyperplane, avoiding local minima inherent to pure cross-entropy backprop.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10928" y="8037576"/>
            <a:ext cx="150876" cy="150876"/>
            <a:chOff x="0" y="0"/>
            <a:chExt cx="201168" cy="2011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053828" y="7872984"/>
            <a:ext cx="7132320" cy="1261872"/>
            <a:chOff x="0" y="0"/>
            <a:chExt cx="9509760" cy="16824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0" cy="1682496"/>
            </a:xfrm>
            <a:custGeom>
              <a:avLst/>
              <a:gdLst/>
              <a:ahLst/>
              <a:cxnLst/>
              <a:rect r="r" b="b" t="t" l="l"/>
              <a:pathLst>
                <a:path h="168249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32" r="0" b="-6013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9509760" cy="1749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Decoupled Modularity</a:t>
              </a:r>
            </a:p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Allows independent feature-space normalization, disciplined regularization, and low-latency (&lt;35ms) inference.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14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THEORY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Support Vector Machine: Mathematical Foundation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Algorithmic formulation, structural risk minimization, and decision boundary mechanics.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527935"/>
            <a:ext cx="16656558" cy="1596390"/>
            <a:chOff x="0" y="0"/>
            <a:chExt cx="22208744" cy="2128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08744" cy="2128520"/>
            </a:xfrm>
            <a:custGeom>
              <a:avLst/>
              <a:gdLst/>
              <a:ahLst/>
              <a:cxnLst/>
              <a:rect r="r" b="b" t="t" l="l"/>
              <a:pathLst>
                <a:path h="2128520" w="22208744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2042120" y="0"/>
                  </a:lnTo>
                  <a:cubicBezTo>
                    <a:pt x="22134068" y="0"/>
                    <a:pt x="22208744" y="74549"/>
                    <a:pt x="22208744" y="166624"/>
                  </a:cubicBezTo>
                  <a:lnTo>
                    <a:pt x="22208744" y="1961896"/>
                  </a:lnTo>
                  <a:cubicBezTo>
                    <a:pt x="22208744" y="2053844"/>
                    <a:pt x="22134195" y="2128520"/>
                    <a:pt x="22042120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2537460"/>
            <a:ext cx="15841980" cy="1577340"/>
            <a:chOff x="0" y="0"/>
            <a:chExt cx="21122640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122639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697" r="0" b="-14569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21122640" cy="2188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Definition   </a:t>
              </a:r>
              <a:r>
                <a:rPr lang="en-US" sz="1875" i="true">
                  <a:solidFill>
                    <a:srgbClr val="11182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Support Vector Machine (SVM) is a supervised discriminative statistical learning algorithm that constructs an optimal separating hyperplane in high-dimensional feature space by maximizing the geometric margin  the minimum perpendicular distance between the hyperplane and the closest training samples of each class.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4489323"/>
            <a:ext cx="5368290" cy="4682490"/>
            <a:chOff x="0" y="0"/>
            <a:chExt cx="7157720" cy="62433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57720" cy="6243320"/>
            </a:xfrm>
            <a:custGeom>
              <a:avLst/>
              <a:gdLst/>
              <a:ahLst/>
              <a:cxnLst/>
              <a:rect r="r" b="b" t="t" l="l"/>
              <a:pathLst>
                <a:path h="6243320" w="7157720">
                  <a:moveTo>
                    <a:pt x="0" y="165227"/>
                  </a:moveTo>
                  <a:cubicBezTo>
                    <a:pt x="0" y="74041"/>
                    <a:pt x="74041" y="0"/>
                    <a:pt x="165227" y="0"/>
                  </a:cubicBezTo>
                  <a:lnTo>
                    <a:pt x="6992493" y="0"/>
                  </a:lnTo>
                  <a:cubicBezTo>
                    <a:pt x="7083806" y="0"/>
                    <a:pt x="7157720" y="74041"/>
                    <a:pt x="7157720" y="165227"/>
                  </a:cubicBezTo>
                  <a:lnTo>
                    <a:pt x="7157720" y="6078093"/>
                  </a:lnTo>
                  <a:cubicBezTo>
                    <a:pt x="7157720" y="6169406"/>
                    <a:pt x="7083679" y="6243320"/>
                    <a:pt x="6992493" y="6243320"/>
                  </a:cubicBezTo>
                  <a:lnTo>
                    <a:pt x="165227" y="6243320"/>
                  </a:lnTo>
                  <a:cubicBezTo>
                    <a:pt x="74041" y="6243320"/>
                    <a:pt x="0" y="6169279"/>
                    <a:pt x="0" y="60780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7008" y="4882896"/>
            <a:ext cx="713232" cy="713232"/>
            <a:chOff x="0" y="0"/>
            <a:chExt cx="950976" cy="9509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008" y="4882896"/>
            <a:ext cx="713232" cy="713232"/>
            <a:chOff x="0" y="0"/>
            <a:chExt cx="950976" cy="9509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50976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7008" y="5843016"/>
            <a:ext cx="4581144" cy="891540"/>
            <a:chOff x="0" y="0"/>
            <a:chExt cx="6108192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8192" cy="1188720"/>
            </a:xfrm>
            <a:custGeom>
              <a:avLst/>
              <a:gdLst/>
              <a:ahLst/>
              <a:cxnLst/>
              <a:rect r="r" b="b" t="t" l="l"/>
              <a:pathLst>
                <a:path h="118872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123" r="0" b="-5012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108192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Structural Risk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Minimization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7008" y="6761988"/>
            <a:ext cx="4581144" cy="2125980"/>
            <a:chOff x="0" y="0"/>
            <a:chExt cx="6108192" cy="2834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081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42" t="0" r="-954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6108192" cy="292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Enforces margin maximization to minimize an upper bound on true generalization error rather than solely minimizing empirical training error.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91859" y="4489323"/>
            <a:ext cx="5368290" cy="4682490"/>
            <a:chOff x="0" y="0"/>
            <a:chExt cx="7157720" cy="6243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57720" cy="6243320"/>
            </a:xfrm>
            <a:custGeom>
              <a:avLst/>
              <a:gdLst/>
              <a:ahLst/>
              <a:cxnLst/>
              <a:rect r="r" b="b" t="t" l="l"/>
              <a:pathLst>
                <a:path h="6243320" w="7157720">
                  <a:moveTo>
                    <a:pt x="0" y="165227"/>
                  </a:moveTo>
                  <a:cubicBezTo>
                    <a:pt x="0" y="74041"/>
                    <a:pt x="74041" y="0"/>
                    <a:pt x="165227" y="0"/>
                  </a:cubicBezTo>
                  <a:lnTo>
                    <a:pt x="6992493" y="0"/>
                  </a:lnTo>
                  <a:cubicBezTo>
                    <a:pt x="7083806" y="0"/>
                    <a:pt x="7157720" y="74041"/>
                    <a:pt x="7157720" y="165227"/>
                  </a:cubicBezTo>
                  <a:lnTo>
                    <a:pt x="7157720" y="6078093"/>
                  </a:lnTo>
                  <a:cubicBezTo>
                    <a:pt x="7157720" y="6169406"/>
                    <a:pt x="7083679" y="6243320"/>
                    <a:pt x="6992493" y="6243320"/>
                  </a:cubicBezTo>
                  <a:lnTo>
                    <a:pt x="165227" y="6243320"/>
                  </a:lnTo>
                  <a:cubicBezTo>
                    <a:pt x="74041" y="6243320"/>
                    <a:pt x="0" y="6169279"/>
                    <a:pt x="0" y="60780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885432" y="4882896"/>
            <a:ext cx="713232" cy="713232"/>
            <a:chOff x="0" y="0"/>
            <a:chExt cx="950976" cy="9509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885432" y="4882896"/>
            <a:ext cx="713232" cy="713232"/>
            <a:chOff x="0" y="0"/>
            <a:chExt cx="950976" cy="9509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950976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85432" y="5843016"/>
            <a:ext cx="4581144" cy="891540"/>
            <a:chOff x="0" y="0"/>
            <a:chExt cx="6108192" cy="1188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08192" cy="1188720"/>
            </a:xfrm>
            <a:custGeom>
              <a:avLst/>
              <a:gdLst/>
              <a:ahLst/>
              <a:cxnLst/>
              <a:rect r="r" b="b" t="t" l="l"/>
              <a:pathLst>
                <a:path h="118872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123" r="0" b="-5012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108192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Convex Global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Optimum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85432" y="6761988"/>
            <a:ext cx="4581144" cy="2125980"/>
            <a:chOff x="0" y="0"/>
            <a:chExt cx="6108192" cy="2834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081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42" t="0" r="-954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6108192" cy="292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Cast as a convex Quadratic Programming (QP) problem, guaranteeing that any local solution is the unique global optimum.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70283" y="4489323"/>
            <a:ext cx="5368290" cy="4682490"/>
            <a:chOff x="0" y="0"/>
            <a:chExt cx="7157720" cy="62433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57720" cy="6243320"/>
            </a:xfrm>
            <a:custGeom>
              <a:avLst/>
              <a:gdLst/>
              <a:ahLst/>
              <a:cxnLst/>
              <a:rect r="r" b="b" t="t" l="l"/>
              <a:pathLst>
                <a:path h="6243320" w="7157720">
                  <a:moveTo>
                    <a:pt x="0" y="165227"/>
                  </a:moveTo>
                  <a:cubicBezTo>
                    <a:pt x="0" y="74041"/>
                    <a:pt x="74041" y="0"/>
                    <a:pt x="165227" y="0"/>
                  </a:cubicBezTo>
                  <a:lnTo>
                    <a:pt x="6992493" y="0"/>
                  </a:lnTo>
                  <a:cubicBezTo>
                    <a:pt x="7083806" y="0"/>
                    <a:pt x="7157720" y="74041"/>
                    <a:pt x="7157720" y="165227"/>
                  </a:cubicBezTo>
                  <a:lnTo>
                    <a:pt x="7157720" y="6078093"/>
                  </a:lnTo>
                  <a:cubicBezTo>
                    <a:pt x="7157720" y="6169406"/>
                    <a:pt x="7083679" y="6243320"/>
                    <a:pt x="6992493" y="6243320"/>
                  </a:cubicBezTo>
                  <a:lnTo>
                    <a:pt x="165227" y="6243320"/>
                  </a:lnTo>
                  <a:cubicBezTo>
                    <a:pt x="74041" y="6243320"/>
                    <a:pt x="0" y="6169279"/>
                    <a:pt x="0" y="60780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563856" y="4882896"/>
            <a:ext cx="713232" cy="713232"/>
            <a:chOff x="0" y="0"/>
            <a:chExt cx="950976" cy="9509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563856" y="4882896"/>
            <a:ext cx="713232" cy="713232"/>
            <a:chOff x="0" y="0"/>
            <a:chExt cx="950976" cy="9509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950976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563856" y="5843016"/>
            <a:ext cx="4581144" cy="891540"/>
            <a:chOff x="0" y="0"/>
            <a:chExt cx="6108192" cy="1188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108192" cy="1188720"/>
            </a:xfrm>
            <a:custGeom>
              <a:avLst/>
              <a:gdLst/>
              <a:ahLst/>
              <a:cxnLst/>
              <a:rect r="r" b="b" t="t" l="l"/>
              <a:pathLst>
                <a:path h="118872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123" r="0" b="-5012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108192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Support Vector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Sparsity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563856" y="6761988"/>
            <a:ext cx="4581144" cy="2125980"/>
            <a:chOff x="0" y="0"/>
            <a:chExt cx="6108192" cy="2834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1081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42" t="0" r="-954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85725"/>
              <a:ext cx="6108192" cy="292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decision boundary is defined strictly by critical points lying on the margin; interior non-boundary samples can be removed without altering the hyperplane.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14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THEORY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SVM Geometry: Hyperplane &amp; Margin Derivation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Primal quadratic optimization formulation for linearly separable embeddings.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537460"/>
            <a:ext cx="16637508" cy="987552"/>
            <a:chOff x="0" y="0"/>
            <a:chExt cx="22183344" cy="1316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3345" cy="1316736"/>
            </a:xfrm>
            <a:custGeom>
              <a:avLst/>
              <a:gdLst/>
              <a:ahLst/>
              <a:cxnLst/>
              <a:rect r="r" b="b" t="t" l="l"/>
              <a:pathLst>
                <a:path h="1316736" w="22183345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2018752" y="0"/>
                  </a:lnTo>
                  <a:cubicBezTo>
                    <a:pt x="22109685" y="0"/>
                    <a:pt x="22183345" y="73660"/>
                    <a:pt x="22183345" y="164592"/>
                  </a:cubicBezTo>
                  <a:lnTo>
                    <a:pt x="22183345" y="1152144"/>
                  </a:lnTo>
                  <a:cubicBezTo>
                    <a:pt x="22183345" y="1243076"/>
                    <a:pt x="22109685" y="1316736"/>
                    <a:pt x="22018752" y="1316736"/>
                  </a:cubicBezTo>
                  <a:lnTo>
                    <a:pt x="164592" y="1316736"/>
                  </a:lnTo>
                  <a:cubicBezTo>
                    <a:pt x="73660" y="1316736"/>
                    <a:pt x="0" y="1243076"/>
                    <a:pt x="0" y="1152144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537460"/>
            <a:ext cx="15951708" cy="987552"/>
            <a:chOff x="0" y="0"/>
            <a:chExt cx="21268944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6894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268944">
                  <a:moveTo>
                    <a:pt x="0" y="0"/>
                  </a:moveTo>
                  <a:lnTo>
                    <a:pt x="21268944" y="0"/>
                  </a:lnTo>
                  <a:lnTo>
                    <a:pt x="2126894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737" r="0" b="-26473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268944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min(w,b)  ½‖w‖²   subject to   yᵢ(wᵀxᵢ + b) ≥ 1,  ∀ i ∈ {1, …, N}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3899535"/>
            <a:ext cx="8385810" cy="5299710"/>
            <a:chOff x="0" y="0"/>
            <a:chExt cx="11181080" cy="7066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81080" cy="7066280"/>
            </a:xfrm>
            <a:custGeom>
              <a:avLst/>
              <a:gdLst/>
              <a:ahLst/>
              <a:cxnLst/>
              <a:rect r="r" b="b" t="t" l="l"/>
              <a:pathLst>
                <a:path h="7066280" w="11181080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1015853" y="0"/>
                  </a:lnTo>
                  <a:cubicBezTo>
                    <a:pt x="11107039" y="0"/>
                    <a:pt x="11181080" y="73914"/>
                    <a:pt x="11181080" y="165227"/>
                  </a:cubicBezTo>
                  <a:lnTo>
                    <a:pt x="11181080" y="6901053"/>
                  </a:lnTo>
                  <a:cubicBezTo>
                    <a:pt x="11181080" y="6992239"/>
                    <a:pt x="11107166" y="7066280"/>
                    <a:pt x="11015853" y="7066280"/>
                  </a:cubicBezTo>
                  <a:lnTo>
                    <a:pt x="165227" y="7066280"/>
                  </a:lnTo>
                  <a:cubicBezTo>
                    <a:pt x="73914" y="7066280"/>
                    <a:pt x="0" y="6992366"/>
                    <a:pt x="0" y="69010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7008" y="4361688"/>
            <a:ext cx="137160" cy="137160"/>
            <a:chOff x="0" y="0"/>
            <a:chExt cx="182880" cy="182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36192" y="3950208"/>
            <a:ext cx="7200900" cy="1234440"/>
            <a:chOff x="0" y="0"/>
            <a:chExt cx="960120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0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960120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Hyperplane Equation</a:t>
              </a:r>
            </a:p>
            <a:p>
              <a:pPr algn="l">
                <a:lnSpc>
                  <a:spcPts val="2339"/>
                </a:lnSpc>
              </a:pPr>
              <a:r>
                <a:rPr lang="en-US" sz="169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wᵀx + b = 0  (normal weight vector w, scalar bias b).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7008" y="5650992"/>
            <a:ext cx="137160" cy="137160"/>
            <a:chOff x="0" y="0"/>
            <a:chExt cx="182880" cy="182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36192" y="5225796"/>
            <a:ext cx="7200900" cy="1234440"/>
            <a:chOff x="0" y="0"/>
            <a:chExt cx="960120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0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60120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Canonical Margin Planes</a:t>
              </a:r>
            </a:p>
            <a:p>
              <a:pPr algn="l">
                <a:lnSpc>
                  <a:spcPts val="2339"/>
                </a:lnSpc>
              </a:pPr>
              <a:r>
                <a:rPr lang="en-US" sz="169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wᵀx + b = +1 (Male boundary) and wᵀx + b = −1 (Female boundary).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7008" y="6940296"/>
            <a:ext cx="137160" cy="137160"/>
            <a:chOff x="0" y="0"/>
            <a:chExt cx="182880" cy="182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36192" y="6583680"/>
            <a:ext cx="7200900" cy="1234440"/>
            <a:chOff x="0" y="0"/>
            <a:chExt cx="9601200" cy="1645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0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60120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Geometric Margin</a:t>
              </a:r>
            </a:p>
            <a:p>
              <a:pPr algn="l">
                <a:lnSpc>
                  <a:spcPts val="2339"/>
                </a:lnSpc>
              </a:pPr>
              <a:r>
                <a:rPr lang="en-US" sz="169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physical width separating canonical planes is γ = 2 / ‖w‖. Maximizing width is equivalent to minimizing ½‖w‖².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7008" y="8229600"/>
            <a:ext cx="137160" cy="137160"/>
            <a:chOff x="0" y="0"/>
            <a:chExt cx="182880" cy="182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36192" y="7964805"/>
            <a:ext cx="7200900" cy="1234440"/>
            <a:chOff x="0" y="0"/>
            <a:chExt cx="9601200" cy="1645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0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60120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Dimension Robustness</a:t>
              </a:r>
            </a:p>
            <a:p>
              <a:pPr algn="l">
                <a:lnSpc>
                  <a:spcPts val="2339"/>
                </a:lnSpc>
              </a:pPr>
              <a:r>
                <a:rPr lang="en-US" sz="169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Generalization capacity is governed by margin width rather than input feature dimensionality (d = 512).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23095" y="3899535"/>
            <a:ext cx="7946898" cy="5299710"/>
            <a:chOff x="0" y="0"/>
            <a:chExt cx="10595864" cy="7066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95864" cy="7066280"/>
            </a:xfrm>
            <a:custGeom>
              <a:avLst/>
              <a:gdLst/>
              <a:ahLst/>
              <a:cxnLst/>
              <a:rect r="r" b="b" t="t" l="l"/>
              <a:pathLst>
                <a:path h="7066280" w="10595864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430637" y="0"/>
                  </a:lnTo>
                  <a:cubicBezTo>
                    <a:pt x="10521823" y="0"/>
                    <a:pt x="10595864" y="73914"/>
                    <a:pt x="10595864" y="165227"/>
                  </a:cubicBezTo>
                  <a:lnTo>
                    <a:pt x="10595864" y="6901053"/>
                  </a:lnTo>
                  <a:cubicBezTo>
                    <a:pt x="10595864" y="6992239"/>
                    <a:pt x="10521950" y="7066280"/>
                    <a:pt x="10430637" y="7066280"/>
                  </a:cubicBezTo>
                  <a:lnTo>
                    <a:pt x="165227" y="7066280"/>
                  </a:lnTo>
                  <a:cubicBezTo>
                    <a:pt x="73914" y="7066280"/>
                    <a:pt x="0" y="6992366"/>
                    <a:pt x="0" y="69010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875520" y="4114800"/>
            <a:ext cx="7242048" cy="411480"/>
            <a:chOff x="0" y="0"/>
            <a:chExt cx="9656064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56064" cy="548640"/>
            </a:xfrm>
            <a:custGeom>
              <a:avLst/>
              <a:gdLst/>
              <a:ahLst/>
              <a:cxnLst/>
              <a:rect r="r" b="b" t="t" l="l"/>
              <a:pathLst>
                <a:path h="548640" w="9656064">
                  <a:moveTo>
                    <a:pt x="0" y="0"/>
                  </a:moveTo>
                  <a:lnTo>
                    <a:pt x="9656064" y="0"/>
                  </a:lnTo>
                  <a:lnTo>
                    <a:pt x="96560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65606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CONCEPTUAL MARGIN PLOT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77652" y="7879842"/>
            <a:ext cx="137160" cy="137160"/>
            <a:chOff x="0" y="0"/>
            <a:chExt cx="182880" cy="182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36586" y="7250278"/>
            <a:ext cx="137160" cy="137160"/>
            <a:chOff x="0" y="0"/>
            <a:chExt cx="182880" cy="182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280961" y="6768846"/>
            <a:ext cx="137160" cy="137160"/>
            <a:chOff x="0" y="0"/>
            <a:chExt cx="182880" cy="1828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592211" y="8139074"/>
            <a:ext cx="137160" cy="137160"/>
            <a:chOff x="0" y="0"/>
            <a:chExt cx="182880" cy="182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116714" y="7398410"/>
            <a:ext cx="137160" cy="137160"/>
            <a:chOff x="0" y="0"/>
            <a:chExt cx="182880" cy="1828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329968" y="6583680"/>
            <a:ext cx="137160" cy="137160"/>
            <a:chOff x="0" y="0"/>
            <a:chExt cx="182880" cy="182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444527" y="6879946"/>
            <a:ext cx="137160" cy="137160"/>
            <a:chOff x="0" y="0"/>
            <a:chExt cx="182880" cy="182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674344" y="6213348"/>
            <a:ext cx="137160" cy="137160"/>
            <a:chOff x="0" y="0"/>
            <a:chExt cx="182880" cy="182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870335" y="5843016"/>
            <a:ext cx="137160" cy="137160"/>
            <a:chOff x="0" y="0"/>
            <a:chExt cx="182880" cy="182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9D174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722651" y="6398514"/>
            <a:ext cx="137160" cy="137160"/>
            <a:chOff x="0" y="0"/>
            <a:chExt cx="182880" cy="1828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9D174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6378276" y="5472684"/>
            <a:ext cx="137160" cy="137160"/>
            <a:chOff x="0" y="0"/>
            <a:chExt cx="182880" cy="182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9D174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263717" y="6879946"/>
            <a:ext cx="137160" cy="137160"/>
            <a:chOff x="0" y="0"/>
            <a:chExt cx="182880" cy="182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9D174D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6050463" y="7324344"/>
            <a:ext cx="137160" cy="137160"/>
            <a:chOff x="0" y="0"/>
            <a:chExt cx="182880" cy="1828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9D174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411401" y="5287518"/>
            <a:ext cx="137160" cy="137160"/>
            <a:chOff x="0" y="0"/>
            <a:chExt cx="182880" cy="1828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9D174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083589" y="6213348"/>
            <a:ext cx="137160" cy="137160"/>
            <a:chOff x="0" y="0"/>
            <a:chExt cx="182880" cy="1828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9D174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6574967" y="6213348"/>
            <a:ext cx="137160" cy="137160"/>
            <a:chOff x="0" y="0"/>
            <a:chExt cx="182880" cy="1828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9D174D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359278" y="6794697"/>
            <a:ext cx="307658" cy="307658"/>
            <a:chOff x="0" y="0"/>
            <a:chExt cx="410210" cy="41021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0210" cy="410210"/>
            </a:xfrm>
            <a:custGeom>
              <a:avLst/>
              <a:gdLst/>
              <a:ahLst/>
              <a:cxnLst/>
              <a:rect r="r" b="b" t="t" l="l"/>
              <a:pathLst>
                <a:path h="410210" w="410210">
                  <a:moveTo>
                    <a:pt x="0" y="205105"/>
                  </a:moveTo>
                  <a:cubicBezTo>
                    <a:pt x="0" y="91821"/>
                    <a:pt x="91821" y="0"/>
                    <a:pt x="205105" y="0"/>
                  </a:cubicBezTo>
                  <a:cubicBezTo>
                    <a:pt x="318389" y="0"/>
                    <a:pt x="410210" y="91821"/>
                    <a:pt x="410210" y="205105"/>
                  </a:cubicBezTo>
                  <a:cubicBezTo>
                    <a:pt x="410210" y="318389"/>
                    <a:pt x="318389" y="410210"/>
                    <a:pt x="205105" y="410210"/>
                  </a:cubicBezTo>
                  <a:cubicBezTo>
                    <a:pt x="91821" y="410210"/>
                    <a:pt x="0" y="318389"/>
                    <a:pt x="0" y="20510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33338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3998340" y="6128099"/>
            <a:ext cx="307658" cy="307658"/>
            <a:chOff x="0" y="0"/>
            <a:chExt cx="410210" cy="41021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0210" cy="410210"/>
            </a:xfrm>
            <a:custGeom>
              <a:avLst/>
              <a:gdLst/>
              <a:ahLst/>
              <a:cxnLst/>
              <a:rect r="r" b="b" t="t" l="l"/>
              <a:pathLst>
                <a:path h="410210" w="410210">
                  <a:moveTo>
                    <a:pt x="0" y="205105"/>
                  </a:moveTo>
                  <a:cubicBezTo>
                    <a:pt x="0" y="91821"/>
                    <a:pt x="91821" y="0"/>
                    <a:pt x="205105" y="0"/>
                  </a:cubicBezTo>
                  <a:cubicBezTo>
                    <a:pt x="318389" y="0"/>
                    <a:pt x="410210" y="91821"/>
                    <a:pt x="410210" y="205105"/>
                  </a:cubicBezTo>
                  <a:cubicBezTo>
                    <a:pt x="410210" y="318389"/>
                    <a:pt x="318389" y="410210"/>
                    <a:pt x="205105" y="410210"/>
                  </a:cubicBezTo>
                  <a:cubicBezTo>
                    <a:pt x="91821" y="410210"/>
                    <a:pt x="0" y="318389"/>
                    <a:pt x="0" y="20510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33338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5265908" y="8023860"/>
            <a:ext cx="1371600" cy="384048"/>
            <a:chOff x="0" y="0"/>
            <a:chExt cx="1828800" cy="51206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28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828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218420" y="4800600"/>
            <a:ext cx="1508760" cy="384048"/>
            <a:chOff x="0" y="0"/>
            <a:chExt cx="2011680" cy="5120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0116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9D17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Female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218420" y="8668512"/>
            <a:ext cx="4114800" cy="342900"/>
            <a:chOff x="0" y="0"/>
            <a:chExt cx="5486400" cy="4572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4864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B4530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○ support vectors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/ 14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THEORY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Soft-Margin Optimization &amp; Slack Variables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Handling demographic overlap, label noise, and edge cases via Cortes–Vapnik formulation.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537460"/>
            <a:ext cx="16637508" cy="987552"/>
            <a:chOff x="0" y="0"/>
            <a:chExt cx="22183344" cy="1316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3345" cy="1316736"/>
            </a:xfrm>
            <a:custGeom>
              <a:avLst/>
              <a:gdLst/>
              <a:ahLst/>
              <a:cxnLst/>
              <a:rect r="r" b="b" t="t" l="l"/>
              <a:pathLst>
                <a:path h="1316736" w="22183345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2018752" y="0"/>
                  </a:lnTo>
                  <a:cubicBezTo>
                    <a:pt x="22109685" y="0"/>
                    <a:pt x="22183345" y="73660"/>
                    <a:pt x="22183345" y="164592"/>
                  </a:cubicBezTo>
                  <a:lnTo>
                    <a:pt x="22183345" y="1152144"/>
                  </a:lnTo>
                  <a:cubicBezTo>
                    <a:pt x="22183345" y="1243076"/>
                    <a:pt x="22109685" y="1316736"/>
                    <a:pt x="22018752" y="1316736"/>
                  </a:cubicBezTo>
                  <a:lnTo>
                    <a:pt x="164592" y="1316736"/>
                  </a:lnTo>
                  <a:cubicBezTo>
                    <a:pt x="73660" y="1316736"/>
                    <a:pt x="0" y="1243076"/>
                    <a:pt x="0" y="1152144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537460"/>
            <a:ext cx="15951708" cy="987552"/>
            <a:chOff x="0" y="0"/>
            <a:chExt cx="21268944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6894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268944">
                  <a:moveTo>
                    <a:pt x="0" y="0"/>
                  </a:moveTo>
                  <a:lnTo>
                    <a:pt x="21268944" y="0"/>
                  </a:lnTo>
                  <a:lnTo>
                    <a:pt x="2126894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737" r="0" b="-26473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268944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min(w,b,ξ)  ½‖w‖² + CΣᵢ₌₁..ₙ ξᵢ   s.t.  yᵢ(wᵀxᵢ+b) ≥ 1−ξᵢ,  ξᵢ ≥ 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3899535"/>
            <a:ext cx="5368290" cy="4517898"/>
            <a:chOff x="0" y="0"/>
            <a:chExt cx="7157720" cy="60238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57720" cy="6023864"/>
            </a:xfrm>
            <a:custGeom>
              <a:avLst/>
              <a:gdLst/>
              <a:ahLst/>
              <a:cxnLst/>
              <a:rect r="r" b="b" t="t" l="l"/>
              <a:pathLst>
                <a:path h="6023864" w="7157720">
                  <a:moveTo>
                    <a:pt x="0" y="140853"/>
                  </a:moveTo>
                  <a:cubicBezTo>
                    <a:pt x="0" y="63010"/>
                    <a:pt x="73914" y="0"/>
                    <a:pt x="165227" y="0"/>
                  </a:cubicBezTo>
                  <a:lnTo>
                    <a:pt x="6992493" y="0"/>
                  </a:lnTo>
                  <a:cubicBezTo>
                    <a:pt x="7083679" y="0"/>
                    <a:pt x="7157720" y="63010"/>
                    <a:pt x="7157720" y="140853"/>
                  </a:cubicBezTo>
                  <a:lnTo>
                    <a:pt x="7157720" y="5883011"/>
                  </a:lnTo>
                  <a:cubicBezTo>
                    <a:pt x="7157720" y="5960745"/>
                    <a:pt x="7083806" y="6023864"/>
                    <a:pt x="6992493" y="6023864"/>
                  </a:cubicBezTo>
                  <a:lnTo>
                    <a:pt x="165227" y="6023864"/>
                  </a:lnTo>
                  <a:cubicBezTo>
                    <a:pt x="73914" y="6023864"/>
                    <a:pt x="0" y="5960854"/>
                    <a:pt x="0" y="58830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7008" y="4293108"/>
            <a:ext cx="685800" cy="685800"/>
            <a:chOff x="0" y="0"/>
            <a:chExt cx="9144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008" y="4293108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7008" y="5212080"/>
            <a:ext cx="4581144" cy="1028700"/>
            <a:chOff x="0" y="0"/>
            <a:chExt cx="6108192" cy="137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8192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73" r="0" b="-3677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108192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Role of Slack (ξᵢ)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5865" y="5389492"/>
            <a:ext cx="4581144" cy="2743200"/>
            <a:chOff x="0" y="0"/>
            <a:chExt cx="6108192" cy="3657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08192" cy="3657600"/>
            </a:xfrm>
            <a:custGeom>
              <a:avLst/>
              <a:gdLst/>
              <a:ahLst/>
              <a:cxnLst/>
              <a:rect r="r" b="b" t="t" l="l"/>
              <a:pathLst>
                <a:path h="365760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828" t="0" r="-2682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6108192" cy="3752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3"/>
                </a:lnSpc>
              </a:pPr>
              <a:r>
                <a:rPr lang="en-US" sz="169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Quantifies margin violations. ξᵢ = 0 (correct &amp; outside margin), 0 &lt; ξᵢ ≤ 1 (correctly classified inside margin band), ξᵢ &gt; 1 (misclassified).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91859" y="3899535"/>
            <a:ext cx="5368290" cy="4517898"/>
            <a:chOff x="0" y="0"/>
            <a:chExt cx="7157720" cy="60238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57720" cy="6023864"/>
            </a:xfrm>
            <a:custGeom>
              <a:avLst/>
              <a:gdLst/>
              <a:ahLst/>
              <a:cxnLst/>
              <a:rect r="r" b="b" t="t" l="l"/>
              <a:pathLst>
                <a:path h="6023864" w="7157720">
                  <a:moveTo>
                    <a:pt x="0" y="140853"/>
                  </a:moveTo>
                  <a:cubicBezTo>
                    <a:pt x="0" y="63010"/>
                    <a:pt x="73914" y="0"/>
                    <a:pt x="165227" y="0"/>
                  </a:cubicBezTo>
                  <a:lnTo>
                    <a:pt x="6992493" y="0"/>
                  </a:lnTo>
                  <a:cubicBezTo>
                    <a:pt x="7083679" y="0"/>
                    <a:pt x="7157720" y="63010"/>
                    <a:pt x="7157720" y="140853"/>
                  </a:cubicBezTo>
                  <a:lnTo>
                    <a:pt x="7157720" y="5883011"/>
                  </a:lnTo>
                  <a:cubicBezTo>
                    <a:pt x="7157720" y="5960745"/>
                    <a:pt x="7083806" y="6023864"/>
                    <a:pt x="6992493" y="6023864"/>
                  </a:cubicBezTo>
                  <a:lnTo>
                    <a:pt x="165227" y="6023864"/>
                  </a:lnTo>
                  <a:cubicBezTo>
                    <a:pt x="73914" y="6023864"/>
                    <a:pt x="0" y="5960854"/>
                    <a:pt x="0" y="58830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885432" y="4293108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885432" y="4293108"/>
            <a:ext cx="685800" cy="685800"/>
            <a:chOff x="0" y="0"/>
            <a:chExt cx="9144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85432" y="5212080"/>
            <a:ext cx="4581144" cy="1028700"/>
            <a:chOff x="0" y="0"/>
            <a:chExt cx="6108192" cy="1371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08192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73" r="0" b="-3677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108192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Regularization Parameter (C)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53428" y="5674233"/>
            <a:ext cx="4581144" cy="2743200"/>
            <a:chOff x="0" y="0"/>
            <a:chExt cx="6108192" cy="3657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08192" cy="3657600"/>
            </a:xfrm>
            <a:custGeom>
              <a:avLst/>
              <a:gdLst/>
              <a:ahLst/>
              <a:cxnLst/>
              <a:rect r="r" b="b" t="t" l="l"/>
              <a:pathLst>
                <a:path h="365760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828" t="0" r="-2682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6108192" cy="3752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3"/>
                </a:lnSpc>
              </a:pPr>
              <a:r>
                <a:rPr lang="en-US" sz="169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Controls the trade-off between maximizing margin width and penalizing slack violations. Large C enforces hard constraints (overfitting risk); small C tolerates violations to preserve a wider, more generalizable boundary.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70283" y="3899535"/>
            <a:ext cx="5368290" cy="4517898"/>
            <a:chOff x="0" y="0"/>
            <a:chExt cx="7157720" cy="60238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57720" cy="6023864"/>
            </a:xfrm>
            <a:custGeom>
              <a:avLst/>
              <a:gdLst/>
              <a:ahLst/>
              <a:cxnLst/>
              <a:rect r="r" b="b" t="t" l="l"/>
              <a:pathLst>
                <a:path h="6023864" w="7157720">
                  <a:moveTo>
                    <a:pt x="0" y="140853"/>
                  </a:moveTo>
                  <a:cubicBezTo>
                    <a:pt x="0" y="63010"/>
                    <a:pt x="73914" y="0"/>
                    <a:pt x="165227" y="0"/>
                  </a:cubicBezTo>
                  <a:lnTo>
                    <a:pt x="6992493" y="0"/>
                  </a:lnTo>
                  <a:cubicBezTo>
                    <a:pt x="7083679" y="0"/>
                    <a:pt x="7157720" y="63010"/>
                    <a:pt x="7157720" y="140853"/>
                  </a:cubicBezTo>
                  <a:lnTo>
                    <a:pt x="7157720" y="5883011"/>
                  </a:lnTo>
                  <a:cubicBezTo>
                    <a:pt x="7157720" y="5960745"/>
                    <a:pt x="7083806" y="6023864"/>
                    <a:pt x="6992493" y="6023864"/>
                  </a:cubicBezTo>
                  <a:lnTo>
                    <a:pt x="165227" y="6023864"/>
                  </a:lnTo>
                  <a:cubicBezTo>
                    <a:pt x="73914" y="6023864"/>
                    <a:pt x="0" y="5960854"/>
                    <a:pt x="0" y="58830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563856" y="4293108"/>
            <a:ext cx="685800" cy="685800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563856" y="4293108"/>
            <a:ext cx="685800" cy="685800"/>
            <a:chOff x="0" y="0"/>
            <a:chExt cx="914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563856" y="5212080"/>
            <a:ext cx="4581144" cy="1028700"/>
            <a:chOff x="0" y="0"/>
            <a:chExt cx="6108192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108192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73" r="0" b="-3677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108192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Empirical Finding (C = 0.01)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471959" y="5389492"/>
            <a:ext cx="4581144" cy="2743200"/>
            <a:chOff x="0" y="0"/>
            <a:chExt cx="6108192" cy="3657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108192" cy="3657600"/>
            </a:xfrm>
            <a:custGeom>
              <a:avLst/>
              <a:gdLst/>
              <a:ahLst/>
              <a:cxnLst/>
              <a:rect r="r" b="b" t="t" l="l"/>
              <a:pathLst>
                <a:path h="3657600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828" t="0" r="-26828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6108192" cy="3752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3"/>
                </a:lnSpc>
              </a:pPr>
              <a:r>
                <a:rPr lang="en-US" sz="169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Grid search demonstrated C = 0.01 achieved peak validation performance, preventing overfitting on ambiguous infant and elderly facial features.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/ 14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THEORY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Non-Linear Boundaries &amp; The Kernel Trick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Dual formulation and non-linear feature projection using the Radial Basis Function (RBF) kernel.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537460"/>
            <a:ext cx="16637508" cy="1234440"/>
            <a:chOff x="0" y="0"/>
            <a:chExt cx="22183344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3345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83345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2018752" y="0"/>
                  </a:lnTo>
                  <a:cubicBezTo>
                    <a:pt x="22109685" y="0"/>
                    <a:pt x="22183345" y="73660"/>
                    <a:pt x="22183345" y="164592"/>
                  </a:cubicBezTo>
                  <a:lnTo>
                    <a:pt x="22183345" y="1481328"/>
                  </a:lnTo>
                  <a:cubicBezTo>
                    <a:pt x="22183345" y="1572260"/>
                    <a:pt x="22109685" y="1645920"/>
                    <a:pt x="22018752" y="1645920"/>
                  </a:cubicBezTo>
                  <a:lnTo>
                    <a:pt x="164592" y="1645920"/>
                  </a:lnTo>
                  <a:cubicBezTo>
                    <a:pt x="73660" y="1645920"/>
                    <a:pt x="0" y="1572260"/>
                    <a:pt x="0" y="1481328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537460"/>
            <a:ext cx="15951708" cy="1234440"/>
            <a:chOff x="0" y="0"/>
            <a:chExt cx="21268944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689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268944">
                  <a:moveTo>
                    <a:pt x="0" y="0"/>
                  </a:moveTo>
                  <a:lnTo>
                    <a:pt x="21268944" y="0"/>
                  </a:lnTo>
                  <a:lnTo>
                    <a:pt x="2126894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789" r="0" b="-2017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268944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max(α)  Σᵢ αᵢ − ½ Σᵢ,ⱼ αᵢαⱼ yᵢyⱼ K(xᵢ,xⱼ)     where     K(xᵢ,xⱼ) = exp(−γ‖xᵢ−xⱼ‖²)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4105275"/>
            <a:ext cx="16656558" cy="1555242"/>
            <a:chOff x="0" y="0"/>
            <a:chExt cx="22208744" cy="20736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08744" cy="2073656"/>
            </a:xfrm>
            <a:custGeom>
              <a:avLst/>
              <a:gdLst/>
              <a:ahLst/>
              <a:cxnLst/>
              <a:rect r="r" b="b" t="t" l="l"/>
              <a:pathLst>
                <a:path h="2073656" w="22208744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2042120" y="0"/>
                  </a:lnTo>
                  <a:cubicBezTo>
                    <a:pt x="22134195" y="0"/>
                    <a:pt x="22208744" y="74549"/>
                    <a:pt x="22208744" y="166624"/>
                  </a:cubicBezTo>
                  <a:lnTo>
                    <a:pt x="22208744" y="1907032"/>
                  </a:lnTo>
                  <a:cubicBezTo>
                    <a:pt x="22208744" y="1999107"/>
                    <a:pt x="22134195" y="2073656"/>
                    <a:pt x="22042120" y="2073656"/>
                  </a:cubicBezTo>
                  <a:lnTo>
                    <a:pt x="166624" y="2073656"/>
                  </a:lnTo>
                  <a:cubicBezTo>
                    <a:pt x="74549" y="2073656"/>
                    <a:pt x="0" y="1999107"/>
                    <a:pt x="0" y="19070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860" y="4512564"/>
            <a:ext cx="740664" cy="740664"/>
            <a:chOff x="0" y="0"/>
            <a:chExt cx="987552" cy="9875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4512564"/>
            <a:ext cx="740664" cy="740664"/>
            <a:chOff x="0" y="0"/>
            <a:chExt cx="987552" cy="9875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987552" cy="1054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∑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63140" y="4114800"/>
            <a:ext cx="14813280" cy="1536192"/>
            <a:chOff x="0" y="0"/>
            <a:chExt cx="19751040" cy="2048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751039" cy="2048256"/>
            </a:xfrm>
            <a:custGeom>
              <a:avLst/>
              <a:gdLst/>
              <a:ahLst/>
              <a:cxnLst/>
              <a:rect r="r" b="b" t="t" l="l"/>
              <a:pathLst>
                <a:path h="2048256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9751040" cy="2124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Implicit High-Dimensional Mapping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kernel trick computes inner products in infinite-dimensional Hilbert space without explicitly computing non-linear coordinates φ(x).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13435" y="5847207"/>
            <a:ext cx="16656558" cy="1555242"/>
            <a:chOff x="0" y="0"/>
            <a:chExt cx="22208744" cy="20736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08744" cy="2073656"/>
            </a:xfrm>
            <a:custGeom>
              <a:avLst/>
              <a:gdLst/>
              <a:ahLst/>
              <a:cxnLst/>
              <a:rect r="r" b="b" t="t" l="l"/>
              <a:pathLst>
                <a:path h="2073656" w="22208744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2042120" y="0"/>
                  </a:lnTo>
                  <a:cubicBezTo>
                    <a:pt x="22134195" y="0"/>
                    <a:pt x="22208744" y="74549"/>
                    <a:pt x="22208744" y="166624"/>
                  </a:cubicBezTo>
                  <a:lnTo>
                    <a:pt x="22208744" y="1907032"/>
                  </a:lnTo>
                  <a:cubicBezTo>
                    <a:pt x="22208744" y="1999107"/>
                    <a:pt x="22134195" y="2073656"/>
                    <a:pt x="22042120" y="2073656"/>
                  </a:cubicBezTo>
                  <a:lnTo>
                    <a:pt x="166624" y="2073656"/>
                  </a:lnTo>
                  <a:cubicBezTo>
                    <a:pt x="74549" y="2073656"/>
                    <a:pt x="0" y="1999107"/>
                    <a:pt x="0" y="19070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65860" y="6254496"/>
            <a:ext cx="740664" cy="740664"/>
            <a:chOff x="0" y="0"/>
            <a:chExt cx="987552" cy="9875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65860" y="6254496"/>
            <a:ext cx="740664" cy="740664"/>
            <a:chOff x="0" y="0"/>
            <a:chExt cx="987552" cy="9875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87552" cy="1054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◎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63140" y="5856732"/>
            <a:ext cx="14813280" cy="1536192"/>
            <a:chOff x="0" y="0"/>
            <a:chExt cx="19751040" cy="20482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751039" cy="2048256"/>
            </a:xfrm>
            <a:custGeom>
              <a:avLst/>
              <a:gdLst/>
              <a:ahLst/>
              <a:cxnLst/>
              <a:rect r="r" b="b" t="t" l="l"/>
              <a:pathLst>
                <a:path h="2048256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19751040" cy="2124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RBF Decision Contours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Evaluates Gaussian Euclidean-distance similarity, establishing smooth localized decision envelopes around support vectors.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3435" y="7589139"/>
            <a:ext cx="16656558" cy="1555242"/>
            <a:chOff x="0" y="0"/>
            <a:chExt cx="22208744" cy="20736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208744" cy="2073656"/>
            </a:xfrm>
            <a:custGeom>
              <a:avLst/>
              <a:gdLst/>
              <a:ahLst/>
              <a:cxnLst/>
              <a:rect r="r" b="b" t="t" l="l"/>
              <a:pathLst>
                <a:path h="2073656" w="22208744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2042120" y="0"/>
                  </a:lnTo>
                  <a:cubicBezTo>
                    <a:pt x="22134195" y="0"/>
                    <a:pt x="22208744" y="74549"/>
                    <a:pt x="22208744" y="166624"/>
                  </a:cubicBezTo>
                  <a:lnTo>
                    <a:pt x="22208744" y="1907032"/>
                  </a:lnTo>
                  <a:cubicBezTo>
                    <a:pt x="22208744" y="1999107"/>
                    <a:pt x="22134195" y="2073656"/>
                    <a:pt x="22042120" y="2073656"/>
                  </a:cubicBezTo>
                  <a:lnTo>
                    <a:pt x="166624" y="2073656"/>
                  </a:lnTo>
                  <a:cubicBezTo>
                    <a:pt x="74549" y="2073656"/>
                    <a:pt x="0" y="1999107"/>
                    <a:pt x="0" y="19070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65860" y="7996428"/>
            <a:ext cx="740664" cy="740664"/>
            <a:chOff x="0" y="0"/>
            <a:chExt cx="987552" cy="9875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65860" y="7996428"/>
            <a:ext cx="740664" cy="740664"/>
            <a:chOff x="0" y="0"/>
            <a:chExt cx="987552" cy="9875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87552" cy="1054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γ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263140" y="7598664"/>
            <a:ext cx="14813280" cy="1536192"/>
            <a:chOff x="0" y="0"/>
            <a:chExt cx="19751040" cy="20482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751039" cy="2048256"/>
            </a:xfrm>
            <a:custGeom>
              <a:avLst/>
              <a:gdLst/>
              <a:ahLst/>
              <a:cxnLst/>
              <a:rect r="r" b="b" t="t" l="l"/>
              <a:pathLst>
                <a:path h="2048256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19751040" cy="2124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Scale Bandwidth (γ = 'scale')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Automatically adapts bandwidth as γ = 1 / (d · Var(X)), standardizing kernel behavior across all 512 dimensions.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/ 14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Dataset: UTKFace Benchmark &amp; Partitioning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Demographic breakdown, label encoding, and stratified data splits.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527935"/>
            <a:ext cx="5436870" cy="1596390"/>
            <a:chOff x="0" y="0"/>
            <a:chExt cx="7249160" cy="2128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491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7249160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7082536" y="0"/>
                  </a:lnTo>
                  <a:cubicBezTo>
                    <a:pt x="7174484" y="0"/>
                    <a:pt x="7249160" y="74549"/>
                    <a:pt x="7249160" y="166624"/>
                  </a:cubicBezTo>
                  <a:lnTo>
                    <a:pt x="7249160" y="1961896"/>
                  </a:lnTo>
                  <a:cubicBezTo>
                    <a:pt x="7249160" y="2053844"/>
                    <a:pt x="7174611" y="2128520"/>
                    <a:pt x="7082536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1E3A8A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1740125"/>
            <a:ext cx="4869180" cy="2637086"/>
            <a:chOff x="0" y="0"/>
            <a:chExt cx="6492240" cy="35161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92240" cy="3516114"/>
            </a:xfrm>
            <a:custGeom>
              <a:avLst/>
              <a:gdLst/>
              <a:ahLst/>
              <a:cxnLst/>
              <a:rect r="r" b="b" t="t" l="l"/>
              <a:pathLst>
                <a:path h="351611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3516114"/>
                  </a:lnTo>
                  <a:lnTo>
                    <a:pt x="0" y="35161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74" r="0" b="5101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492240" cy="3535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24102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3470148"/>
            <a:ext cx="4869180" cy="548640"/>
            <a:chOff x="0" y="0"/>
            <a:chExt cx="64922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9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29" r="0" b="-12292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4922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CF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Face Images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23279" y="2527935"/>
            <a:ext cx="5436870" cy="1596390"/>
            <a:chOff x="0" y="0"/>
            <a:chExt cx="7249160" cy="2128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491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7249160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7082536" y="0"/>
                  </a:lnTo>
                  <a:cubicBezTo>
                    <a:pt x="7174484" y="0"/>
                    <a:pt x="7249160" y="74549"/>
                    <a:pt x="7249160" y="166624"/>
                  </a:cubicBezTo>
                  <a:lnTo>
                    <a:pt x="7249160" y="1961896"/>
                  </a:lnTo>
                  <a:cubicBezTo>
                    <a:pt x="7249160" y="2053844"/>
                    <a:pt x="7174611" y="2128520"/>
                    <a:pt x="7082536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617970" y="1740125"/>
            <a:ext cx="4869180" cy="2637086"/>
            <a:chOff x="0" y="0"/>
            <a:chExt cx="6492240" cy="35161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92240" cy="3516114"/>
            </a:xfrm>
            <a:custGeom>
              <a:avLst/>
              <a:gdLst/>
              <a:ahLst/>
              <a:cxnLst/>
              <a:rect r="r" b="b" t="t" l="l"/>
              <a:pathLst>
                <a:path h="351611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3516114"/>
                  </a:lnTo>
                  <a:lnTo>
                    <a:pt x="0" y="35161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74" r="0" b="510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492240" cy="3535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52.2% / 47.8%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07124" y="3470148"/>
            <a:ext cx="4869180" cy="548640"/>
            <a:chOff x="0" y="0"/>
            <a:chExt cx="64922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9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29" r="0" b="-1229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4922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Male (12,581) vs. Female (11,521)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33123" y="2527935"/>
            <a:ext cx="5436870" cy="1596390"/>
            <a:chOff x="0" y="0"/>
            <a:chExt cx="7249160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491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7249160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7082536" y="0"/>
                  </a:lnTo>
                  <a:cubicBezTo>
                    <a:pt x="7174484" y="0"/>
                    <a:pt x="7249160" y="74549"/>
                    <a:pt x="7249160" y="166624"/>
                  </a:cubicBezTo>
                  <a:lnTo>
                    <a:pt x="7249160" y="1961896"/>
                  </a:lnTo>
                  <a:cubicBezTo>
                    <a:pt x="7249160" y="2053844"/>
                    <a:pt x="7174611" y="2128520"/>
                    <a:pt x="7082536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316968" y="2715768"/>
            <a:ext cx="4869180" cy="685800"/>
            <a:chOff x="0" y="0"/>
            <a:chExt cx="649224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492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[age]_[gender]_[race]_[dt].jpg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16968" y="3470148"/>
            <a:ext cx="4869180" cy="548640"/>
            <a:chOff x="0" y="0"/>
            <a:chExt cx="64922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9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29" r="0" b="-12292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4922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token: 0 = Male, 1 = Female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4457700"/>
            <a:ext cx="8229600" cy="411480"/>
            <a:chOff x="0" y="0"/>
            <a:chExt cx="109728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STRATIFIED PARTITIONING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822960" y="4937760"/>
          <a:ext cx="16611600" cy="4191000"/>
        </p:xfrm>
        <a:graphic>
          <a:graphicData uri="http://schemas.openxmlformats.org/drawingml/2006/table">
            <a:tbl>
              <a:tblPr/>
              <a:tblGrid>
                <a:gridCol w="3292624"/>
                <a:gridCol w="1660480"/>
                <a:gridCol w="2068516"/>
                <a:gridCol w="9589980"/>
              </a:tblGrid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Partition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Training 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70.0%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16,871 faces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Fine-tuning ResNet-18 Layer 4 + FC; preliminary SVM fit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Validation 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15.0%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3,615 faces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Grid search hyperparameter optimization across 36 (C,γ) pairs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Set (Holdout)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15.0%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3,616 faces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Untouched benchmark evaluation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Merged Retraining 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85.0%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20,486 faces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+ Val merged fit before final holdout testing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grpSp>
        <p:nvGrpSpPr>
          <p:cNvPr name="Group 39" id="3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/ 14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Training Pipeline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Sequential four-stage pipeline: data preparation, CNN fine-tuning, SVM grid search, and final retraining.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802255"/>
            <a:ext cx="3928110" cy="4055459"/>
            <a:chOff x="0" y="0"/>
            <a:chExt cx="5237480" cy="54072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37480" cy="5407279"/>
            </a:xfrm>
            <a:custGeom>
              <a:avLst/>
              <a:gdLst/>
              <a:ahLst/>
              <a:cxnLst/>
              <a:rect r="r" b="b" t="t" l="l"/>
              <a:pathLst>
                <a:path h="5407279" w="5237480">
                  <a:moveTo>
                    <a:pt x="0" y="107125"/>
                  </a:moveTo>
                  <a:cubicBezTo>
                    <a:pt x="0" y="47968"/>
                    <a:pt x="74041" y="0"/>
                    <a:pt x="165354" y="0"/>
                  </a:cubicBezTo>
                  <a:lnTo>
                    <a:pt x="5072126" y="0"/>
                  </a:lnTo>
                  <a:cubicBezTo>
                    <a:pt x="5163439" y="0"/>
                    <a:pt x="5237480" y="47968"/>
                    <a:pt x="5237480" y="107125"/>
                  </a:cubicBezTo>
                  <a:lnTo>
                    <a:pt x="5237480" y="5300153"/>
                  </a:lnTo>
                  <a:cubicBezTo>
                    <a:pt x="5237480" y="5359311"/>
                    <a:pt x="5163439" y="5407279"/>
                    <a:pt x="5072126" y="5407279"/>
                  </a:cubicBezTo>
                  <a:lnTo>
                    <a:pt x="165354" y="5407279"/>
                  </a:lnTo>
                  <a:cubicBezTo>
                    <a:pt x="74041" y="5407279"/>
                    <a:pt x="0" y="5359311"/>
                    <a:pt x="0" y="53001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2811780"/>
            <a:ext cx="3909060" cy="754380"/>
            <a:chOff x="0" y="0"/>
            <a:chExt cx="521208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047488" y="0"/>
                  </a:lnTo>
                  <a:cubicBezTo>
                    <a:pt x="5138420" y="0"/>
                    <a:pt x="5212080" y="73660"/>
                    <a:pt x="5212080" y="164592"/>
                  </a:cubicBezTo>
                  <a:lnTo>
                    <a:pt x="5212080" y="841248"/>
                  </a:lnTo>
                  <a:cubicBezTo>
                    <a:pt x="5212080" y="932180"/>
                    <a:pt x="5138420" y="1005840"/>
                    <a:pt x="5047488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69848" y="2811780"/>
            <a:ext cx="3415284" cy="754380"/>
            <a:chOff x="0" y="0"/>
            <a:chExt cx="4553712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53712" cy="1005840"/>
            </a:xfrm>
            <a:custGeom>
              <a:avLst/>
              <a:gdLst/>
              <a:ahLst/>
              <a:cxnLst/>
              <a:rect r="r" b="b" t="t" l="l"/>
              <a:pathLst>
                <a:path h="100584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14" r="0" b="-3821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553712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80">
                  <a:solidFill>
                    <a:srgbClr val="CFE0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9848" y="3744468"/>
            <a:ext cx="3415284" cy="850392"/>
            <a:chOff x="0" y="0"/>
            <a:chExt cx="4553712" cy="11338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53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54" r="0" b="-2825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553712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Preparation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4841748"/>
            <a:ext cx="109728" cy="109728"/>
            <a:chOff x="0" y="0"/>
            <a:chExt cx="146304" cy="1463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71600" y="4385310"/>
            <a:ext cx="3086100" cy="1165860"/>
            <a:chOff x="0" y="0"/>
            <a:chExt cx="4114800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UTKFace corpus — 24102 images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4712" y="5456301"/>
            <a:ext cx="109728" cy="109728"/>
            <a:chOff x="0" y="0"/>
            <a:chExt cx="146304" cy="1463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69695" y="5020056"/>
            <a:ext cx="3086100" cy="1165860"/>
            <a:chOff x="0" y="0"/>
            <a:chExt cx="411480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Filename label parsing (0=M, 1=F)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24712" y="6076188"/>
            <a:ext cx="109728" cy="109728"/>
            <a:chOff x="0" y="0"/>
            <a:chExt cx="146304" cy="1463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83995" y="5579745"/>
            <a:ext cx="3086100" cy="1165860"/>
            <a:chOff x="0" y="0"/>
            <a:chExt cx="4114800" cy="1554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Stratified split 70/15/15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722495" y="4783074"/>
            <a:ext cx="329184" cy="822960"/>
            <a:chOff x="0" y="0"/>
            <a:chExt cx="438912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438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51679" y="2802255"/>
            <a:ext cx="3928110" cy="4055459"/>
            <a:chOff x="0" y="0"/>
            <a:chExt cx="5237480" cy="540727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37480" cy="5407279"/>
            </a:xfrm>
            <a:custGeom>
              <a:avLst/>
              <a:gdLst/>
              <a:ahLst/>
              <a:cxnLst/>
              <a:rect r="r" b="b" t="t" l="l"/>
              <a:pathLst>
                <a:path h="5407279" w="5237480">
                  <a:moveTo>
                    <a:pt x="0" y="107125"/>
                  </a:moveTo>
                  <a:cubicBezTo>
                    <a:pt x="0" y="47968"/>
                    <a:pt x="74041" y="0"/>
                    <a:pt x="165354" y="0"/>
                  </a:cubicBezTo>
                  <a:lnTo>
                    <a:pt x="5072126" y="0"/>
                  </a:lnTo>
                  <a:cubicBezTo>
                    <a:pt x="5163439" y="0"/>
                    <a:pt x="5237480" y="47968"/>
                    <a:pt x="5237480" y="107125"/>
                  </a:cubicBezTo>
                  <a:lnTo>
                    <a:pt x="5237480" y="5300153"/>
                  </a:lnTo>
                  <a:cubicBezTo>
                    <a:pt x="5237480" y="5359311"/>
                    <a:pt x="5163439" y="5407279"/>
                    <a:pt x="5072126" y="5407279"/>
                  </a:cubicBezTo>
                  <a:lnTo>
                    <a:pt x="165354" y="5407279"/>
                  </a:lnTo>
                  <a:cubicBezTo>
                    <a:pt x="74041" y="5407279"/>
                    <a:pt x="0" y="5359311"/>
                    <a:pt x="0" y="53001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5061204" y="2811780"/>
            <a:ext cx="3909060" cy="754380"/>
            <a:chOff x="0" y="0"/>
            <a:chExt cx="521208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047488" y="0"/>
                  </a:lnTo>
                  <a:cubicBezTo>
                    <a:pt x="5138420" y="0"/>
                    <a:pt x="5212080" y="73660"/>
                    <a:pt x="5212080" y="164592"/>
                  </a:cubicBezTo>
                  <a:lnTo>
                    <a:pt x="5212080" y="841248"/>
                  </a:lnTo>
                  <a:cubicBezTo>
                    <a:pt x="5212080" y="932180"/>
                    <a:pt x="5138420" y="1005840"/>
                    <a:pt x="5047488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308092" y="2811780"/>
            <a:ext cx="3415284" cy="754380"/>
            <a:chOff x="0" y="0"/>
            <a:chExt cx="4553712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53712" cy="1005840"/>
            </a:xfrm>
            <a:custGeom>
              <a:avLst/>
              <a:gdLst/>
              <a:ahLst/>
              <a:cxnLst/>
              <a:rect r="r" b="b" t="t" l="l"/>
              <a:pathLst>
                <a:path h="100584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14" r="0" b="-3821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553712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80">
                  <a:solidFill>
                    <a:srgbClr val="CFE0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308092" y="3744468"/>
            <a:ext cx="3415284" cy="850392"/>
            <a:chOff x="0" y="0"/>
            <a:chExt cx="4553712" cy="113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53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54" r="0" b="-2825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553712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CNN Fine-Tuning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335524" y="4841748"/>
            <a:ext cx="109728" cy="109728"/>
            <a:chOff x="0" y="0"/>
            <a:chExt cx="146304" cy="1463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636514" y="4437126"/>
            <a:ext cx="3086100" cy="1165860"/>
            <a:chOff x="0" y="0"/>
            <a:chExt cx="4114800" cy="15544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Augmentation: flip, ±15° rotation, ColorJitter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335524" y="5520690"/>
            <a:ext cx="109728" cy="109728"/>
            <a:chOff x="0" y="0"/>
            <a:chExt cx="146304" cy="1463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607939" y="5129784"/>
            <a:ext cx="3086100" cy="1165860"/>
            <a:chOff x="0" y="0"/>
            <a:chExt cx="4114800" cy="15544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ResNet-18 backbone; Layer 4+FC fine-tuned (1-3 frozen)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38191" y="6185916"/>
            <a:ext cx="109728" cy="109728"/>
            <a:chOff x="0" y="0"/>
            <a:chExt cx="146304" cy="1463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569839" y="5843016"/>
            <a:ext cx="3086100" cy="1165860"/>
            <a:chOff x="0" y="0"/>
            <a:chExt cx="4114800" cy="15544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epochs, Adam @ 1e-4 → 512-D embedding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991600" y="4896612"/>
            <a:ext cx="329184" cy="822960"/>
            <a:chOff x="0" y="0"/>
            <a:chExt cx="438912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438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289923" y="2802255"/>
            <a:ext cx="3928110" cy="4055459"/>
            <a:chOff x="0" y="0"/>
            <a:chExt cx="5237480" cy="540727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37480" cy="5407279"/>
            </a:xfrm>
            <a:custGeom>
              <a:avLst/>
              <a:gdLst/>
              <a:ahLst/>
              <a:cxnLst/>
              <a:rect r="r" b="b" t="t" l="l"/>
              <a:pathLst>
                <a:path h="5407279" w="5237480">
                  <a:moveTo>
                    <a:pt x="0" y="107125"/>
                  </a:moveTo>
                  <a:cubicBezTo>
                    <a:pt x="0" y="47968"/>
                    <a:pt x="74041" y="0"/>
                    <a:pt x="165354" y="0"/>
                  </a:cubicBezTo>
                  <a:lnTo>
                    <a:pt x="5072126" y="0"/>
                  </a:lnTo>
                  <a:cubicBezTo>
                    <a:pt x="5163439" y="0"/>
                    <a:pt x="5237480" y="47968"/>
                    <a:pt x="5237480" y="107125"/>
                  </a:cubicBezTo>
                  <a:lnTo>
                    <a:pt x="5237480" y="5300153"/>
                  </a:lnTo>
                  <a:cubicBezTo>
                    <a:pt x="5237480" y="5359311"/>
                    <a:pt x="5163439" y="5407279"/>
                    <a:pt x="5072126" y="5407279"/>
                  </a:cubicBezTo>
                  <a:lnTo>
                    <a:pt x="165354" y="5407279"/>
                  </a:lnTo>
                  <a:cubicBezTo>
                    <a:pt x="74041" y="5407279"/>
                    <a:pt x="0" y="5359311"/>
                    <a:pt x="0" y="53001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299448" y="2811780"/>
            <a:ext cx="3909060" cy="754380"/>
            <a:chOff x="0" y="0"/>
            <a:chExt cx="5212080" cy="1005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047488" y="0"/>
                  </a:lnTo>
                  <a:cubicBezTo>
                    <a:pt x="5138420" y="0"/>
                    <a:pt x="5212080" y="73660"/>
                    <a:pt x="5212080" y="164592"/>
                  </a:cubicBezTo>
                  <a:lnTo>
                    <a:pt x="5212080" y="841248"/>
                  </a:lnTo>
                  <a:cubicBezTo>
                    <a:pt x="5212080" y="932180"/>
                    <a:pt x="5138420" y="1005840"/>
                    <a:pt x="5047488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546336" y="2811780"/>
            <a:ext cx="3415284" cy="754380"/>
            <a:chOff x="0" y="0"/>
            <a:chExt cx="4553712" cy="1005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53712" cy="1005840"/>
            </a:xfrm>
            <a:custGeom>
              <a:avLst/>
              <a:gdLst/>
              <a:ahLst/>
              <a:cxnLst/>
              <a:rect r="r" b="b" t="t" l="l"/>
              <a:pathLst>
                <a:path h="100584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14" r="0" b="-3821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553712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80">
                  <a:solidFill>
                    <a:srgbClr val="CFE0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46336" y="3744468"/>
            <a:ext cx="3415284" cy="850392"/>
            <a:chOff x="0" y="0"/>
            <a:chExt cx="4553712" cy="11338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53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54" r="0" b="-2825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4553712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SVM Grid Search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73768" y="4841748"/>
            <a:ext cx="109728" cy="109728"/>
            <a:chOff x="0" y="0"/>
            <a:chExt cx="146304" cy="14630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873996" y="4313682"/>
            <a:ext cx="3086100" cy="1165860"/>
            <a:chOff x="0" y="0"/>
            <a:chExt cx="4114800" cy="15544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StandardScaler normalization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58909" y="5441442"/>
            <a:ext cx="109728" cy="109728"/>
            <a:chOff x="0" y="0"/>
            <a:chExt cx="146304" cy="14630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75520" y="4951476"/>
            <a:ext cx="3086100" cy="1165860"/>
            <a:chOff x="0" y="0"/>
            <a:chExt cx="4114800" cy="15544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36 (C, γ) RBF-SVM parameter grid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558909" y="6107811"/>
            <a:ext cx="109728" cy="109728"/>
            <a:chOff x="0" y="0"/>
            <a:chExt cx="146304" cy="14630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883902" y="5719572"/>
            <a:ext cx="3086100" cy="1165860"/>
            <a:chOff x="0" y="0"/>
            <a:chExt cx="4114800" cy="15544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Best: C=0.01, γ='scale' — 91.51% Val Acc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198983" y="4841748"/>
            <a:ext cx="329184" cy="822960"/>
            <a:chOff x="0" y="0"/>
            <a:chExt cx="438912" cy="1097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438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528167" y="2802255"/>
            <a:ext cx="3928110" cy="4055459"/>
            <a:chOff x="0" y="0"/>
            <a:chExt cx="5237480" cy="540727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37480" cy="5407279"/>
            </a:xfrm>
            <a:custGeom>
              <a:avLst/>
              <a:gdLst/>
              <a:ahLst/>
              <a:cxnLst/>
              <a:rect r="r" b="b" t="t" l="l"/>
              <a:pathLst>
                <a:path h="5407279" w="5237480">
                  <a:moveTo>
                    <a:pt x="0" y="107125"/>
                  </a:moveTo>
                  <a:cubicBezTo>
                    <a:pt x="0" y="47968"/>
                    <a:pt x="74041" y="0"/>
                    <a:pt x="165354" y="0"/>
                  </a:cubicBezTo>
                  <a:lnTo>
                    <a:pt x="5072126" y="0"/>
                  </a:lnTo>
                  <a:cubicBezTo>
                    <a:pt x="5163439" y="0"/>
                    <a:pt x="5237480" y="47968"/>
                    <a:pt x="5237480" y="107125"/>
                  </a:cubicBezTo>
                  <a:lnTo>
                    <a:pt x="5237480" y="5300153"/>
                  </a:lnTo>
                  <a:cubicBezTo>
                    <a:pt x="5237480" y="5359311"/>
                    <a:pt x="5163439" y="5407279"/>
                    <a:pt x="5072126" y="5407279"/>
                  </a:cubicBezTo>
                  <a:lnTo>
                    <a:pt x="165354" y="5407279"/>
                  </a:lnTo>
                  <a:cubicBezTo>
                    <a:pt x="74041" y="5407279"/>
                    <a:pt x="0" y="5359311"/>
                    <a:pt x="0" y="53001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3537692" y="2811780"/>
            <a:ext cx="3909060" cy="754380"/>
            <a:chOff x="0" y="0"/>
            <a:chExt cx="5212080" cy="10058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047488" y="0"/>
                  </a:lnTo>
                  <a:cubicBezTo>
                    <a:pt x="5138420" y="0"/>
                    <a:pt x="5212080" y="73660"/>
                    <a:pt x="5212080" y="164592"/>
                  </a:cubicBezTo>
                  <a:lnTo>
                    <a:pt x="5212080" y="841248"/>
                  </a:lnTo>
                  <a:cubicBezTo>
                    <a:pt x="5212080" y="932180"/>
                    <a:pt x="5138420" y="1005840"/>
                    <a:pt x="5047488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784580" y="2811780"/>
            <a:ext cx="3415284" cy="754380"/>
            <a:chOff x="0" y="0"/>
            <a:chExt cx="4553712" cy="10058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553712" cy="1005840"/>
            </a:xfrm>
            <a:custGeom>
              <a:avLst/>
              <a:gdLst/>
              <a:ahLst/>
              <a:cxnLst/>
              <a:rect r="r" b="b" t="t" l="l"/>
              <a:pathLst>
                <a:path h="100584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14" r="0" b="-3821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4553712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80">
                  <a:solidFill>
                    <a:srgbClr val="CFE0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4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784580" y="3744468"/>
            <a:ext cx="3415284" cy="850392"/>
            <a:chOff x="0" y="0"/>
            <a:chExt cx="4553712" cy="11338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553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54" r="0" b="-2825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4553712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Final Model &amp; Eval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3812012" y="4841748"/>
            <a:ext cx="109728" cy="109728"/>
            <a:chOff x="0" y="0"/>
            <a:chExt cx="146304" cy="14630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4159865" y="4313682"/>
            <a:ext cx="3086100" cy="1165860"/>
            <a:chOff x="0" y="0"/>
            <a:chExt cx="4114800" cy="15544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Merged Train+Val retrain (20468)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757148" y="5496306"/>
            <a:ext cx="109728" cy="109728"/>
            <a:chOff x="0" y="0"/>
            <a:chExt cx="146304" cy="14630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4159865" y="4968240"/>
            <a:ext cx="3086100" cy="1165860"/>
            <a:chOff x="0" y="0"/>
            <a:chExt cx="4114800" cy="15544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holdout on 3,616 test faces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3737717" y="6052947"/>
            <a:ext cx="109728" cy="109728"/>
            <a:chOff x="0" y="0"/>
            <a:chExt cx="146304" cy="14630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159865" y="5566029"/>
            <a:ext cx="3086100" cy="1165860"/>
            <a:chOff x="0" y="0"/>
            <a:chExt cx="4114800" cy="15544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66675"/>
              <a:ext cx="4114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7"/>
                </a:lnSpc>
              </a:pPr>
              <a:r>
                <a:rPr lang="en-US" sz="154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91.98% Test Accuracy achieved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/ 14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Feature Extractor: ResNet-18 Backbone &amp; GAP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Layer freezing rationale, residual skip connections, and Global Average Pooling vector generation.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527935"/>
            <a:ext cx="16656558" cy="1088898"/>
            <a:chOff x="0" y="0"/>
            <a:chExt cx="22208744" cy="14518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08744" cy="1451864"/>
            </a:xfrm>
            <a:custGeom>
              <a:avLst/>
              <a:gdLst/>
              <a:ahLst/>
              <a:cxnLst/>
              <a:rect r="r" b="b" t="t" l="l"/>
              <a:pathLst>
                <a:path h="1451864" w="22208744">
                  <a:moveTo>
                    <a:pt x="0" y="167513"/>
                  </a:moveTo>
                  <a:cubicBezTo>
                    <a:pt x="0" y="75057"/>
                    <a:pt x="75057" y="0"/>
                    <a:pt x="167513" y="0"/>
                  </a:cubicBezTo>
                  <a:lnTo>
                    <a:pt x="22041231" y="0"/>
                  </a:lnTo>
                  <a:cubicBezTo>
                    <a:pt x="22133688" y="0"/>
                    <a:pt x="22208744" y="75057"/>
                    <a:pt x="22208744" y="167513"/>
                  </a:cubicBezTo>
                  <a:lnTo>
                    <a:pt x="22208744" y="1284351"/>
                  </a:lnTo>
                  <a:cubicBezTo>
                    <a:pt x="22208744" y="1376807"/>
                    <a:pt x="22133688" y="1451864"/>
                    <a:pt x="22041231" y="1451864"/>
                  </a:cubicBezTo>
                  <a:lnTo>
                    <a:pt x="167513" y="1451864"/>
                  </a:lnTo>
                  <a:cubicBezTo>
                    <a:pt x="75057" y="1451864"/>
                    <a:pt x="0" y="1376807"/>
                    <a:pt x="0" y="128435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2537460"/>
            <a:ext cx="15841980" cy="1069848"/>
            <a:chOff x="0" y="0"/>
            <a:chExt cx="21122640" cy="14264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1226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528" r="0" b="-2385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1122640" cy="1502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725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Rationale   </a:t>
              </a:r>
              <a:r>
                <a:rPr lang="en-US" sz="1725">
                  <a:solidFill>
                    <a:srgbClr val="11182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Residual skip connections y = F(x) + x resolve vanishing gradients. Freezing early layers preserves general low/mid-level visual filters while unfreezing Layer 4 tailors high-level representations to facial dimorphism.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822960" y="3909060"/>
          <a:ext cx="16630650" cy="5257800"/>
        </p:xfrm>
        <a:graphic>
          <a:graphicData uri="http://schemas.openxmlformats.org/drawingml/2006/table">
            <a:tbl>
              <a:tblPr/>
              <a:tblGrid>
                <a:gridCol w="4120436"/>
                <a:gridCol w="4802440"/>
                <a:gridCol w="7707774"/>
              </a:tblGrid>
              <a:tr h="6803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Output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Represents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9154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Normalized 3×224×224 RGB crop</a:t>
                      </a:r>
                      <a:endParaRPr lang="en-US" sz="1100"/>
                    </a:p>
                    <a:p>
                      <a:pPr algn="l">
                        <a:lnSpc>
                          <a:spcPts val="1854"/>
                        </a:lnSpc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(Resize 256 → CenterCrop 224)</a:t>
                      </a:r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Conv1 + MaxPool (Frozen)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64 ch, 56×56 map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Edges, gradients, low-level textures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9154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Layers 1–3 (Frozen)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256 ch, 14×14 map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Mid-level contours, eye sockets, nose bridge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Layer 4 (Fine-Tuned)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512 ch, 7×7 map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High-level dimorphism: jaw, brow, cheekbones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7"/>
                    </a:solidFill>
                  </a:tcPr>
                </a:tc>
              </a:tr>
              <a:tr h="9154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AdaptiveAvgPool2d (GAP)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1×512 vector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4"/>
                        </a:lnSpc>
                        <a:defRPr/>
                      </a:pPr>
                      <a:r>
                        <a:rPr lang="en-US" sz="1545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Spatially invariant embedding → Scaler &amp; SVM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7"/>
                    </a:solidFill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822960" y="9258300"/>
            <a:ext cx="8229600" cy="411480"/>
            <a:chOff x="0" y="0"/>
            <a:chExt cx="109728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Shaded rows = fine-tuned / trainable components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/ 14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RBF-SVM Grid Search &amp; Hyperparameter Tuning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Exhaustive validation across 36 hyperparameter pairs and retraining protocol.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527935"/>
            <a:ext cx="3928110" cy="1459230"/>
            <a:chOff x="0" y="0"/>
            <a:chExt cx="5237480" cy="1945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5070729" y="0"/>
                  </a:lnTo>
                  <a:cubicBezTo>
                    <a:pt x="5162804" y="0"/>
                    <a:pt x="5237480" y="74676"/>
                    <a:pt x="5237480" y="166751"/>
                  </a:cubicBezTo>
                  <a:lnTo>
                    <a:pt x="5237480" y="1778889"/>
                  </a:lnTo>
                  <a:cubicBezTo>
                    <a:pt x="5237480" y="1870964"/>
                    <a:pt x="5162804" y="1945640"/>
                    <a:pt x="507072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69848" y="2674620"/>
            <a:ext cx="3415284" cy="685800"/>
            <a:chOff x="0" y="0"/>
            <a:chExt cx="4553712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53712" cy="914400"/>
            </a:xfrm>
            <a:custGeom>
              <a:avLst/>
              <a:gdLst/>
              <a:ahLst/>
              <a:cxnLst/>
              <a:rect r="r" b="b" t="t" l="l"/>
              <a:pathLst>
                <a:path h="91440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035" r="0" b="-4703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5537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E3A8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9848" y="3387852"/>
            <a:ext cx="3415284" cy="548640"/>
            <a:chOff x="0" y="0"/>
            <a:chExt cx="4553712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53712" cy="731520"/>
            </a:xfrm>
            <a:custGeom>
              <a:avLst/>
              <a:gdLst/>
              <a:ahLst/>
              <a:cxnLst/>
              <a:rect r="r" b="b" t="t" l="l"/>
              <a:pathLst>
                <a:path h="73152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294" r="0" b="-712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5537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Grid Combinations (6×C × 6×γ)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51679" y="2527935"/>
            <a:ext cx="3928110" cy="1459230"/>
            <a:chOff x="0" y="0"/>
            <a:chExt cx="5237480" cy="1945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5070729" y="0"/>
                  </a:lnTo>
                  <a:cubicBezTo>
                    <a:pt x="5162804" y="0"/>
                    <a:pt x="5237480" y="74676"/>
                    <a:pt x="5237480" y="166751"/>
                  </a:cubicBezTo>
                  <a:lnTo>
                    <a:pt x="5237480" y="1778889"/>
                  </a:lnTo>
                  <a:cubicBezTo>
                    <a:pt x="5237480" y="1870964"/>
                    <a:pt x="5162804" y="1945640"/>
                    <a:pt x="507072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308092" y="2674620"/>
            <a:ext cx="3415284" cy="685800"/>
            <a:chOff x="0" y="0"/>
            <a:chExt cx="4553712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53712" cy="914400"/>
            </a:xfrm>
            <a:custGeom>
              <a:avLst/>
              <a:gdLst/>
              <a:ahLst/>
              <a:cxnLst/>
              <a:rect r="r" b="b" t="t" l="l"/>
              <a:pathLst>
                <a:path h="91440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035" r="0" b="-4703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5537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E3A8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 = 0.01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08092" y="3387852"/>
            <a:ext cx="3415284" cy="548640"/>
            <a:chOff x="0" y="0"/>
            <a:chExt cx="4553712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53712" cy="731520"/>
            </a:xfrm>
            <a:custGeom>
              <a:avLst/>
              <a:gdLst/>
              <a:ahLst/>
              <a:cxnLst/>
              <a:rect r="r" b="b" t="t" l="l"/>
              <a:pathLst>
                <a:path h="73152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294" r="0" b="-712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5537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Optimal Regularization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89923" y="2527935"/>
            <a:ext cx="3928110" cy="1459230"/>
            <a:chOff x="0" y="0"/>
            <a:chExt cx="5237480" cy="1945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5070729" y="0"/>
                  </a:lnTo>
                  <a:cubicBezTo>
                    <a:pt x="5162804" y="0"/>
                    <a:pt x="5237480" y="74676"/>
                    <a:pt x="5237480" y="166751"/>
                  </a:cubicBezTo>
                  <a:lnTo>
                    <a:pt x="5237480" y="1778889"/>
                  </a:lnTo>
                  <a:cubicBezTo>
                    <a:pt x="5237480" y="1870964"/>
                    <a:pt x="5162804" y="1945640"/>
                    <a:pt x="507072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46336" y="2674620"/>
            <a:ext cx="3415284" cy="685800"/>
            <a:chOff x="0" y="0"/>
            <a:chExt cx="4553712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53712" cy="914400"/>
            </a:xfrm>
            <a:custGeom>
              <a:avLst/>
              <a:gdLst/>
              <a:ahLst/>
              <a:cxnLst/>
              <a:rect r="r" b="b" t="t" l="l"/>
              <a:pathLst>
                <a:path h="91440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035" r="0" b="-470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5537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E3A8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'scale'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46336" y="3387852"/>
            <a:ext cx="3415284" cy="548640"/>
            <a:chOff x="0" y="0"/>
            <a:chExt cx="4553712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53712" cy="731520"/>
            </a:xfrm>
            <a:custGeom>
              <a:avLst/>
              <a:gdLst/>
              <a:ahLst/>
              <a:cxnLst/>
              <a:rect r="r" b="b" t="t" l="l"/>
              <a:pathLst>
                <a:path h="73152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294" r="0" b="-7129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537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Optimal Kernel Bandwidth (γ)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28167" y="2527935"/>
            <a:ext cx="3928110" cy="1459230"/>
            <a:chOff x="0" y="0"/>
            <a:chExt cx="5237480" cy="1945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5070729" y="0"/>
                  </a:lnTo>
                  <a:cubicBezTo>
                    <a:pt x="5162804" y="0"/>
                    <a:pt x="5237480" y="74676"/>
                    <a:pt x="5237480" y="166751"/>
                  </a:cubicBezTo>
                  <a:lnTo>
                    <a:pt x="5237480" y="1778889"/>
                  </a:lnTo>
                  <a:cubicBezTo>
                    <a:pt x="5237480" y="1870964"/>
                    <a:pt x="5162804" y="1945640"/>
                    <a:pt x="507072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1E3A8A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784580" y="2674620"/>
            <a:ext cx="3415284" cy="685800"/>
            <a:chOff x="0" y="0"/>
            <a:chExt cx="4553712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53712" cy="914400"/>
            </a:xfrm>
            <a:custGeom>
              <a:avLst/>
              <a:gdLst/>
              <a:ahLst/>
              <a:cxnLst/>
              <a:rect r="r" b="b" t="t" l="l"/>
              <a:pathLst>
                <a:path h="91440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035" r="0" b="-470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5537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91.51%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84580" y="3387852"/>
            <a:ext cx="3415284" cy="548640"/>
            <a:chOff x="0" y="0"/>
            <a:chExt cx="4553712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53712" cy="731520"/>
            </a:xfrm>
            <a:custGeom>
              <a:avLst/>
              <a:gdLst/>
              <a:ahLst/>
              <a:cxnLst/>
              <a:rect r="r" b="b" t="t" l="l"/>
              <a:pathLst>
                <a:path h="73152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294" r="0" b="-712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5537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F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Validation Accuracy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13435" y="4311015"/>
            <a:ext cx="16656558" cy="1774698"/>
            <a:chOff x="0" y="0"/>
            <a:chExt cx="22208744" cy="23662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08744" cy="2366264"/>
            </a:xfrm>
            <a:custGeom>
              <a:avLst/>
              <a:gdLst/>
              <a:ahLst/>
              <a:cxnLst/>
              <a:rect r="r" b="b" t="t" l="l"/>
              <a:pathLst>
                <a:path h="2366264" w="22208744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22042374" y="0"/>
                  </a:lnTo>
                  <a:cubicBezTo>
                    <a:pt x="22134322" y="0"/>
                    <a:pt x="22208744" y="74549"/>
                    <a:pt x="22208744" y="166370"/>
                  </a:cubicBezTo>
                  <a:lnTo>
                    <a:pt x="22208744" y="2199894"/>
                  </a:lnTo>
                  <a:cubicBezTo>
                    <a:pt x="22208744" y="2291842"/>
                    <a:pt x="22134195" y="2366264"/>
                    <a:pt x="22042374" y="2366264"/>
                  </a:cubicBezTo>
                  <a:lnTo>
                    <a:pt x="166370" y="2366264"/>
                  </a:lnTo>
                  <a:cubicBezTo>
                    <a:pt x="74422" y="2366264"/>
                    <a:pt x="0" y="2291715"/>
                    <a:pt x="0" y="219989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65860" y="4828032"/>
            <a:ext cx="740664" cy="740664"/>
            <a:chOff x="0" y="0"/>
            <a:chExt cx="987552" cy="9875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5860" y="4828032"/>
            <a:ext cx="740664" cy="740664"/>
            <a:chOff x="0" y="0"/>
            <a:chExt cx="987552" cy="9875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987552" cy="1044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≡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263140" y="4320540"/>
            <a:ext cx="14813280" cy="1755648"/>
            <a:chOff x="0" y="0"/>
            <a:chExt cx="19751040" cy="23408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751039" cy="2340864"/>
            </a:xfrm>
            <a:custGeom>
              <a:avLst/>
              <a:gdLst/>
              <a:ahLst/>
              <a:cxnLst/>
              <a:rect r="r" b="b" t="t" l="l"/>
              <a:pathLst>
                <a:path h="2340864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19751040" cy="2426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14"/>
                </a:lnSpc>
              </a:pPr>
              <a:r>
                <a:rPr lang="en-US" sz="195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 Space</a:t>
              </a:r>
            </a:p>
            <a:p>
              <a:pPr algn="l">
                <a:lnSpc>
                  <a:spcPts val="2338"/>
                </a:lnSpc>
              </a:pPr>
              <a:r>
                <a:rPr lang="en-US" sz="167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 ∈ {0.01, 0.1, 1, 10, 100, 1000} and γ ∈ {'scale','auto',0.001,0.01,0.1,1}, evaluated strictly on 3,556 validation faces to prevent data leakage.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13435" y="6258687"/>
            <a:ext cx="16656558" cy="1774698"/>
            <a:chOff x="0" y="0"/>
            <a:chExt cx="22208744" cy="23662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208744" cy="2366264"/>
            </a:xfrm>
            <a:custGeom>
              <a:avLst/>
              <a:gdLst/>
              <a:ahLst/>
              <a:cxnLst/>
              <a:rect r="r" b="b" t="t" l="l"/>
              <a:pathLst>
                <a:path h="2366264" w="22208744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22042374" y="0"/>
                  </a:lnTo>
                  <a:cubicBezTo>
                    <a:pt x="22134322" y="0"/>
                    <a:pt x="22208744" y="74549"/>
                    <a:pt x="22208744" y="166370"/>
                  </a:cubicBezTo>
                  <a:lnTo>
                    <a:pt x="22208744" y="2199894"/>
                  </a:lnTo>
                  <a:cubicBezTo>
                    <a:pt x="22208744" y="2291842"/>
                    <a:pt x="22134195" y="2366264"/>
                    <a:pt x="22042374" y="2366264"/>
                  </a:cubicBezTo>
                  <a:lnTo>
                    <a:pt x="166370" y="2366264"/>
                  </a:lnTo>
                  <a:cubicBezTo>
                    <a:pt x="74422" y="2366264"/>
                    <a:pt x="0" y="2291715"/>
                    <a:pt x="0" y="219989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65860" y="6775704"/>
            <a:ext cx="740664" cy="740664"/>
            <a:chOff x="0" y="0"/>
            <a:chExt cx="987552" cy="9875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65860" y="6775704"/>
            <a:ext cx="740664" cy="740664"/>
            <a:chOff x="0" y="0"/>
            <a:chExt cx="987552" cy="9875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987552" cy="1044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◡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239823" y="6364986"/>
            <a:ext cx="14813280" cy="1755648"/>
            <a:chOff x="0" y="0"/>
            <a:chExt cx="19751040" cy="23408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751039" cy="2340864"/>
            </a:xfrm>
            <a:custGeom>
              <a:avLst/>
              <a:gdLst/>
              <a:ahLst/>
              <a:cxnLst/>
              <a:rect r="r" b="b" t="t" l="l"/>
              <a:pathLst>
                <a:path h="2340864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85725"/>
              <a:ext cx="19751040" cy="2426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14"/>
                </a:lnSpc>
              </a:pPr>
              <a:r>
                <a:rPr lang="en-US" sz="195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Small C Won</a:t>
              </a:r>
            </a:p>
            <a:p>
              <a:pPr algn="l">
                <a:lnSpc>
                  <a:spcPts val="2338"/>
                </a:lnSpc>
              </a:pPr>
              <a:r>
                <a:rPr lang="en-US" sz="167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Larger values of C forced the model to memorize noisy demographic boundaries (infants and elderly), reducing generalization. C=0.01 established smooth, highly regularized margins.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13435" y="8206359"/>
            <a:ext cx="16656558" cy="1418436"/>
            <a:chOff x="0" y="0"/>
            <a:chExt cx="22208744" cy="18912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208744" cy="1891248"/>
            </a:xfrm>
            <a:custGeom>
              <a:avLst/>
              <a:gdLst/>
              <a:ahLst/>
              <a:cxnLst/>
              <a:rect r="r" b="b" t="t" l="l"/>
              <a:pathLst>
                <a:path h="1891248" w="22208744">
                  <a:moveTo>
                    <a:pt x="0" y="132972"/>
                  </a:moveTo>
                  <a:cubicBezTo>
                    <a:pt x="0" y="59584"/>
                    <a:pt x="74549" y="0"/>
                    <a:pt x="166370" y="0"/>
                  </a:cubicBezTo>
                  <a:lnTo>
                    <a:pt x="22042374" y="0"/>
                  </a:lnTo>
                  <a:cubicBezTo>
                    <a:pt x="22134322" y="0"/>
                    <a:pt x="22208744" y="59584"/>
                    <a:pt x="22208744" y="132972"/>
                  </a:cubicBezTo>
                  <a:lnTo>
                    <a:pt x="22208744" y="1758276"/>
                  </a:lnTo>
                  <a:cubicBezTo>
                    <a:pt x="22208744" y="1831766"/>
                    <a:pt x="22134195" y="1891248"/>
                    <a:pt x="22042374" y="1891248"/>
                  </a:cubicBezTo>
                  <a:lnTo>
                    <a:pt x="166370" y="1891248"/>
                  </a:lnTo>
                  <a:cubicBezTo>
                    <a:pt x="74422" y="1891248"/>
                    <a:pt x="0" y="1831664"/>
                    <a:pt x="0" y="175827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165860" y="8723376"/>
            <a:ext cx="740664" cy="740664"/>
            <a:chOff x="0" y="0"/>
            <a:chExt cx="987552" cy="9875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65860" y="8723376"/>
            <a:ext cx="740664" cy="740664"/>
            <a:chOff x="0" y="0"/>
            <a:chExt cx="987552" cy="9875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987552" cy="1044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↻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263140" y="8215884"/>
            <a:ext cx="14813280" cy="1755648"/>
            <a:chOff x="0" y="0"/>
            <a:chExt cx="19751040" cy="23408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751039" cy="2340864"/>
            </a:xfrm>
            <a:custGeom>
              <a:avLst/>
              <a:gdLst/>
              <a:ahLst/>
              <a:cxnLst/>
              <a:rect r="r" b="b" t="t" l="l"/>
              <a:pathLst>
                <a:path h="2340864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85725"/>
              <a:ext cx="19751040" cy="2426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14"/>
                </a:lnSpc>
              </a:pPr>
              <a:r>
                <a:rPr lang="en-US" sz="195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Retraining Protocol</a:t>
              </a:r>
            </a:p>
            <a:p>
              <a:pPr algn="l">
                <a:lnSpc>
                  <a:spcPts val="2338"/>
                </a:lnSpc>
              </a:pPr>
              <a:r>
                <a:rPr lang="en-US" sz="167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Following parameter discovery, the SVM was refit on the unified 85% corpus (20,151 samples) to maximize support vector density prior to holdout testing.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Production Real-Time Inference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Four operational stages from image ingest to calibrated JSON prediction.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596515"/>
            <a:ext cx="3928110" cy="4471844"/>
            <a:chOff x="0" y="0"/>
            <a:chExt cx="5237480" cy="59624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37480" cy="5962459"/>
            </a:xfrm>
            <a:custGeom>
              <a:avLst/>
              <a:gdLst/>
              <a:ahLst/>
              <a:cxnLst/>
              <a:rect r="r" b="b" t="t" l="l"/>
              <a:pathLst>
                <a:path h="5962459" w="5237480">
                  <a:moveTo>
                    <a:pt x="0" y="132658"/>
                  </a:moveTo>
                  <a:cubicBezTo>
                    <a:pt x="0" y="59400"/>
                    <a:pt x="74041" y="0"/>
                    <a:pt x="165354" y="0"/>
                  </a:cubicBezTo>
                  <a:lnTo>
                    <a:pt x="5072126" y="0"/>
                  </a:lnTo>
                  <a:cubicBezTo>
                    <a:pt x="5163439" y="0"/>
                    <a:pt x="5237480" y="59400"/>
                    <a:pt x="5237480" y="132658"/>
                  </a:cubicBezTo>
                  <a:lnTo>
                    <a:pt x="5237480" y="5829802"/>
                  </a:lnTo>
                  <a:cubicBezTo>
                    <a:pt x="5237480" y="5903059"/>
                    <a:pt x="5163439" y="5962459"/>
                    <a:pt x="5072126" y="5962459"/>
                  </a:cubicBezTo>
                  <a:lnTo>
                    <a:pt x="165354" y="5962459"/>
                  </a:lnTo>
                  <a:cubicBezTo>
                    <a:pt x="74041" y="5962459"/>
                    <a:pt x="0" y="5903059"/>
                    <a:pt x="0" y="582980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407158" y="2990088"/>
            <a:ext cx="740664" cy="740664"/>
            <a:chOff x="0" y="0"/>
            <a:chExt cx="987552" cy="9875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407158" y="2990088"/>
            <a:ext cx="740664" cy="740664"/>
            <a:chOff x="0" y="0"/>
            <a:chExt cx="987552" cy="9875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87552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3950208"/>
            <a:ext cx="3497580" cy="384048"/>
            <a:chOff x="0" y="0"/>
            <a:chExt cx="466344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6344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17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4347972"/>
            <a:ext cx="3497580" cy="822960"/>
            <a:chOff x="0" y="0"/>
            <a:chExt cx="466344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Ingestion &amp; API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" y="4553331"/>
            <a:ext cx="3360420" cy="2743200"/>
            <a:chOff x="0" y="0"/>
            <a:chExt cx="4480560" cy="3657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805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737" t="0" r="-5473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48056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image upload via multipart form → FastAPI async endpoint (POST /predict) → OpenCV image decoding.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732020" y="4320540"/>
            <a:ext cx="329184" cy="822960"/>
            <a:chOff x="0" y="0"/>
            <a:chExt cx="438912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38912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51679" y="2596515"/>
            <a:ext cx="3928110" cy="4471844"/>
            <a:chOff x="0" y="0"/>
            <a:chExt cx="5237480" cy="59624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7480" cy="5962459"/>
            </a:xfrm>
            <a:custGeom>
              <a:avLst/>
              <a:gdLst/>
              <a:ahLst/>
              <a:cxnLst/>
              <a:rect r="r" b="b" t="t" l="l"/>
              <a:pathLst>
                <a:path h="5962459" w="5237480">
                  <a:moveTo>
                    <a:pt x="0" y="132658"/>
                  </a:moveTo>
                  <a:cubicBezTo>
                    <a:pt x="0" y="59400"/>
                    <a:pt x="74041" y="0"/>
                    <a:pt x="165354" y="0"/>
                  </a:cubicBezTo>
                  <a:lnTo>
                    <a:pt x="5072126" y="0"/>
                  </a:lnTo>
                  <a:cubicBezTo>
                    <a:pt x="5163439" y="0"/>
                    <a:pt x="5237480" y="59400"/>
                    <a:pt x="5237480" y="132658"/>
                  </a:cubicBezTo>
                  <a:lnTo>
                    <a:pt x="5237480" y="5829802"/>
                  </a:lnTo>
                  <a:cubicBezTo>
                    <a:pt x="5237480" y="5903059"/>
                    <a:pt x="5163439" y="5962459"/>
                    <a:pt x="5072126" y="5962459"/>
                  </a:cubicBezTo>
                  <a:lnTo>
                    <a:pt x="165354" y="5962459"/>
                  </a:lnTo>
                  <a:cubicBezTo>
                    <a:pt x="74041" y="5962459"/>
                    <a:pt x="0" y="5903059"/>
                    <a:pt x="0" y="582980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645402" y="2990088"/>
            <a:ext cx="740664" cy="740664"/>
            <a:chOff x="0" y="0"/>
            <a:chExt cx="987552" cy="9875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645402" y="2990088"/>
            <a:ext cx="740664" cy="740664"/>
            <a:chOff x="0" y="0"/>
            <a:chExt cx="987552" cy="9875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87552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266944" y="3950208"/>
            <a:ext cx="3497580" cy="384048"/>
            <a:chOff x="0" y="0"/>
            <a:chExt cx="4663440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66344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17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66944" y="4347972"/>
            <a:ext cx="3497580" cy="822960"/>
            <a:chOff x="0" y="0"/>
            <a:chExt cx="466344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Detection &amp; Preprocessing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35524" y="4636008"/>
            <a:ext cx="3360420" cy="2743200"/>
            <a:chOff x="0" y="0"/>
            <a:chExt cx="4480560" cy="3657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805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737" t="0" r="-5473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448056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OpenCV YuNet face detector (ONNX, score≥0.60, min 40px, Haar fallback) → crop +15% border padding → Resize 256 → CenterCrop 224.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979789" y="4347972"/>
            <a:ext cx="329184" cy="822960"/>
            <a:chOff x="0" y="0"/>
            <a:chExt cx="438912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438912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89923" y="2596515"/>
            <a:ext cx="3928110" cy="4471844"/>
            <a:chOff x="0" y="0"/>
            <a:chExt cx="5237480" cy="596245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37480" cy="5962459"/>
            </a:xfrm>
            <a:custGeom>
              <a:avLst/>
              <a:gdLst/>
              <a:ahLst/>
              <a:cxnLst/>
              <a:rect r="r" b="b" t="t" l="l"/>
              <a:pathLst>
                <a:path h="5962459" w="5237480">
                  <a:moveTo>
                    <a:pt x="0" y="132658"/>
                  </a:moveTo>
                  <a:cubicBezTo>
                    <a:pt x="0" y="59400"/>
                    <a:pt x="74041" y="0"/>
                    <a:pt x="165354" y="0"/>
                  </a:cubicBezTo>
                  <a:lnTo>
                    <a:pt x="5072126" y="0"/>
                  </a:lnTo>
                  <a:cubicBezTo>
                    <a:pt x="5163439" y="0"/>
                    <a:pt x="5237480" y="59400"/>
                    <a:pt x="5237480" y="132658"/>
                  </a:cubicBezTo>
                  <a:lnTo>
                    <a:pt x="5237480" y="5829802"/>
                  </a:lnTo>
                  <a:cubicBezTo>
                    <a:pt x="5237480" y="5903059"/>
                    <a:pt x="5163439" y="5962459"/>
                    <a:pt x="5072126" y="5962459"/>
                  </a:cubicBezTo>
                  <a:lnTo>
                    <a:pt x="165354" y="5962459"/>
                  </a:lnTo>
                  <a:cubicBezTo>
                    <a:pt x="74041" y="5962459"/>
                    <a:pt x="0" y="5903059"/>
                    <a:pt x="0" y="582980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883646" y="2990088"/>
            <a:ext cx="740664" cy="740664"/>
            <a:chOff x="0" y="0"/>
            <a:chExt cx="987552" cy="9875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883646" y="2990088"/>
            <a:ext cx="740664" cy="740664"/>
            <a:chOff x="0" y="0"/>
            <a:chExt cx="987552" cy="9875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87552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505188" y="3950208"/>
            <a:ext cx="3497580" cy="384048"/>
            <a:chOff x="0" y="0"/>
            <a:chExt cx="4663440" cy="5120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6344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17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05188" y="4347972"/>
            <a:ext cx="3497580" cy="822960"/>
            <a:chOff x="0" y="0"/>
            <a:chExt cx="466344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Feature Backbone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08998" y="4423410"/>
            <a:ext cx="3360420" cy="2743200"/>
            <a:chOff x="0" y="0"/>
            <a:chExt cx="4480560" cy="3657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805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737" t="0" r="-54737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448056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Forward pass through fine-tuned ResNet-18 (fc → Identity) under torch.no_grad() → spatially pooled 512-D embedding vector.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212318" y="4423410"/>
            <a:ext cx="329184" cy="822960"/>
            <a:chOff x="0" y="0"/>
            <a:chExt cx="438912" cy="1097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438912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528167" y="2596515"/>
            <a:ext cx="3928110" cy="4471844"/>
            <a:chOff x="0" y="0"/>
            <a:chExt cx="5237480" cy="596245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37480" cy="5962459"/>
            </a:xfrm>
            <a:custGeom>
              <a:avLst/>
              <a:gdLst/>
              <a:ahLst/>
              <a:cxnLst/>
              <a:rect r="r" b="b" t="t" l="l"/>
              <a:pathLst>
                <a:path h="5962459" w="5237480">
                  <a:moveTo>
                    <a:pt x="0" y="132658"/>
                  </a:moveTo>
                  <a:cubicBezTo>
                    <a:pt x="0" y="59400"/>
                    <a:pt x="74041" y="0"/>
                    <a:pt x="165354" y="0"/>
                  </a:cubicBezTo>
                  <a:lnTo>
                    <a:pt x="5072126" y="0"/>
                  </a:lnTo>
                  <a:cubicBezTo>
                    <a:pt x="5163439" y="0"/>
                    <a:pt x="5237480" y="59400"/>
                    <a:pt x="5237480" y="132658"/>
                  </a:cubicBezTo>
                  <a:lnTo>
                    <a:pt x="5237480" y="5829802"/>
                  </a:lnTo>
                  <a:cubicBezTo>
                    <a:pt x="5237480" y="5903059"/>
                    <a:pt x="5163439" y="5962459"/>
                    <a:pt x="5072126" y="5962459"/>
                  </a:cubicBezTo>
                  <a:lnTo>
                    <a:pt x="165354" y="5962459"/>
                  </a:lnTo>
                  <a:cubicBezTo>
                    <a:pt x="74041" y="5962459"/>
                    <a:pt x="0" y="5903059"/>
                    <a:pt x="0" y="582980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5121890" y="2990088"/>
            <a:ext cx="740664" cy="740664"/>
            <a:chOff x="0" y="0"/>
            <a:chExt cx="987552" cy="9875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121890" y="2990088"/>
            <a:ext cx="740664" cy="740664"/>
            <a:chOff x="0" y="0"/>
            <a:chExt cx="987552" cy="9875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987552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743432" y="3950208"/>
            <a:ext cx="3497580" cy="384048"/>
            <a:chOff x="0" y="0"/>
            <a:chExt cx="4663440" cy="5120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66344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17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743432" y="4347972"/>
            <a:ext cx="3497580" cy="822960"/>
            <a:chOff x="0" y="0"/>
            <a:chExt cx="4663440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Classification &amp; Response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852017" y="4553331"/>
            <a:ext cx="3360420" cy="2743200"/>
            <a:chOff x="0" y="0"/>
            <a:chExt cx="4480560" cy="3657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4805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737" t="0" r="-54737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66675"/>
              <a:ext cx="448056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StandardScaler standardization → RBF-SVM signed margin (wᵀx+b) → sigmoid confidence clipped [0.50, 0.99] → JSON: gender, confidence, bbox.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14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9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850392"/>
            <a:chOff x="0" y="0"/>
            <a:chExt cx="2212848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272" r="0" b="-3302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Experimental Results &amp; Evaluation Metrics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10512"/>
            <a:ext cx="16596360" cy="493776"/>
            <a:chOff x="0" y="0"/>
            <a:chExt cx="2212848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913" r="0" b="-604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Quantitative classification benchmarks on the untouched 15% holdout test partition (3,616 faces).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527935"/>
            <a:ext cx="5368290" cy="1596390"/>
            <a:chOff x="0" y="0"/>
            <a:chExt cx="7157720" cy="2128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577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7157720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6991096" y="0"/>
                  </a:lnTo>
                  <a:cubicBezTo>
                    <a:pt x="7083044" y="0"/>
                    <a:pt x="7157720" y="74549"/>
                    <a:pt x="7157720" y="166624"/>
                  </a:cubicBezTo>
                  <a:lnTo>
                    <a:pt x="7157720" y="1961896"/>
                  </a:lnTo>
                  <a:cubicBezTo>
                    <a:pt x="7157720" y="2053844"/>
                    <a:pt x="7083171" y="2128520"/>
                    <a:pt x="6991096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1E3A8A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674620"/>
            <a:ext cx="4663440" cy="822960"/>
            <a:chOff x="0" y="0"/>
            <a:chExt cx="621792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2179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91.98%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5860" y="3566160"/>
            <a:ext cx="4663440" cy="411480"/>
            <a:chOff x="0" y="0"/>
            <a:chExt cx="621792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2179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F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Accuracy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68415" y="2527935"/>
            <a:ext cx="11101578" cy="1596390"/>
            <a:chOff x="0" y="0"/>
            <a:chExt cx="14802104" cy="2128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802104" cy="2128520"/>
            </a:xfrm>
            <a:custGeom>
              <a:avLst/>
              <a:gdLst/>
              <a:ahLst/>
              <a:cxnLst/>
              <a:rect r="r" b="b" t="t" l="l"/>
              <a:pathLst>
                <a:path h="2128520" w="14802104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14635480" y="0"/>
                  </a:lnTo>
                  <a:cubicBezTo>
                    <a:pt x="14727428" y="0"/>
                    <a:pt x="14802104" y="74549"/>
                    <a:pt x="14802104" y="166624"/>
                  </a:cubicBezTo>
                  <a:lnTo>
                    <a:pt x="14802104" y="1961896"/>
                  </a:lnTo>
                  <a:cubicBezTo>
                    <a:pt x="14802104" y="2053844"/>
                    <a:pt x="14727555" y="2128520"/>
                    <a:pt x="14635480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766103" y="2153892"/>
            <a:ext cx="10287000" cy="1864416"/>
            <a:chOff x="0" y="0"/>
            <a:chExt cx="13716000" cy="24858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716000" cy="2485889"/>
            </a:xfrm>
            <a:custGeom>
              <a:avLst/>
              <a:gdLst/>
              <a:ahLst/>
              <a:cxnLst/>
              <a:rect r="r" b="b" t="t" l="l"/>
              <a:pathLst>
                <a:path h="2485889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485889"/>
                  </a:lnTo>
                  <a:lnTo>
                    <a:pt x="0" y="24858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17" r="0" b="-259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3716000" cy="2495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F17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3,225 / 3,616 faces correctly classified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66103" y="3243834"/>
            <a:ext cx="10287000" cy="822960"/>
            <a:chOff x="0" y="0"/>
            <a:chExt cx="1371600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1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396" r="0" b="-1727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37160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285 total errors across the holdout test partition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4526280"/>
            <a:ext cx="8229600" cy="411480"/>
            <a:chOff x="0" y="0"/>
            <a:chExt cx="109728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BY CLASS</a:t>
              </a:r>
            </a:p>
          </p:txBody>
        </p:sp>
      </p:grpSp>
      <p:graphicFrame>
        <p:nvGraphicFramePr>
          <p:cNvPr name="Table 30" id="30"/>
          <p:cNvGraphicFramePr>
            <a:graphicFrameLocks noGrp="true"/>
          </p:cNvGraphicFramePr>
          <p:nvPr/>
        </p:nvGraphicFramePr>
        <p:xfrm>
          <a:off x="822960" y="5006340"/>
          <a:ext cx="16592550" cy="2971800"/>
        </p:xfrm>
        <a:graphic>
          <a:graphicData uri="http://schemas.openxmlformats.org/drawingml/2006/table">
            <a:tbl>
              <a:tblPr/>
              <a:tblGrid>
                <a:gridCol w="4368245"/>
                <a:gridCol w="3052686"/>
                <a:gridCol w="3052686"/>
                <a:gridCol w="3052686"/>
                <a:gridCol w="3066248"/>
              </a:tblGrid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Support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Male (0)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91.5%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93.0%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92.2%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1,859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9D174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Female (1)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92.5%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90.9%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82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91.7%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1,698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Overall 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9FB3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9FB3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9FB3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Acc: 91.98%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grpSp>
        <p:nvGrpSpPr>
          <p:cNvPr name="Group 31" id="31"/>
          <p:cNvGrpSpPr/>
          <p:nvPr/>
        </p:nvGrpSpPr>
        <p:grpSpPr>
          <a:xfrm rot="0">
            <a:off x="813435" y="8014335"/>
            <a:ext cx="16656558" cy="1322070"/>
            <a:chOff x="0" y="0"/>
            <a:chExt cx="22208744" cy="1762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208744" cy="1762760"/>
            </a:xfrm>
            <a:custGeom>
              <a:avLst/>
              <a:gdLst/>
              <a:ahLst/>
              <a:cxnLst/>
              <a:rect r="r" b="b" t="t" l="l"/>
              <a:pathLst>
                <a:path h="1762760" w="22208744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22041738" y="0"/>
                  </a:lnTo>
                  <a:cubicBezTo>
                    <a:pt x="22133940" y="0"/>
                    <a:pt x="22208744" y="74803"/>
                    <a:pt x="22208744" y="167005"/>
                  </a:cubicBezTo>
                  <a:lnTo>
                    <a:pt x="22208744" y="1595755"/>
                  </a:lnTo>
                  <a:cubicBezTo>
                    <a:pt x="22208744" y="1687957"/>
                    <a:pt x="22133940" y="1762760"/>
                    <a:pt x="22041738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34440" y="8023860"/>
            <a:ext cx="15773400" cy="1303020"/>
            <a:chOff x="0" y="0"/>
            <a:chExt cx="21031200" cy="1737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031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21031200" cy="1832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1"/>
                </a:lnSpc>
              </a:pPr>
              <a:r>
                <a:rPr lang="en-US" sz="1725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1725">
                  <a:solidFill>
                    <a:srgbClr val="11182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Balanced high-precision classification across both genders with less than 2% recall difference.</a:t>
              </a:r>
            </a:p>
            <a:p>
              <a:pPr algn="l">
                <a:lnSpc>
                  <a:spcPts val="2691"/>
                </a:lnSpc>
              </a:pPr>
              <a:r>
                <a:rPr lang="en-US" sz="1725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1725">
                  <a:solidFill>
                    <a:srgbClr val="11182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 margin separation confirmed by balanced F1-scores (92.2% Male vs. 91.7% Female).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Gender Classification — SVM &amp; ResNet-18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504463" y="9710928"/>
            <a:ext cx="1097280" cy="411480"/>
            <a:chOff x="0" y="0"/>
            <a:chExt cx="146304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14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31808" y="-3031808"/>
            <a:ext cx="8532495" cy="8532495"/>
            <a:chOff x="0" y="0"/>
            <a:chExt cx="11376660" cy="11376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76660" cy="11376660"/>
            </a:xfrm>
            <a:custGeom>
              <a:avLst/>
              <a:gdLst/>
              <a:ahLst/>
              <a:cxnLst/>
              <a:rect r="r" b="b" t="t" l="l"/>
              <a:pathLst>
                <a:path h="11376660" w="11376660">
                  <a:moveTo>
                    <a:pt x="0" y="5688330"/>
                  </a:moveTo>
                  <a:cubicBezTo>
                    <a:pt x="0" y="2546731"/>
                    <a:pt x="2546731" y="0"/>
                    <a:pt x="5688330" y="0"/>
                  </a:cubicBezTo>
                  <a:cubicBezTo>
                    <a:pt x="8829929" y="0"/>
                    <a:pt x="11376660" y="2546731"/>
                    <a:pt x="11376660" y="5688330"/>
                  </a:cubicBezTo>
                  <a:cubicBezTo>
                    <a:pt x="11376660" y="8829929"/>
                    <a:pt x="8829929" y="11376660"/>
                    <a:pt x="5688330" y="11376660"/>
                  </a:cubicBezTo>
                  <a:cubicBezTo>
                    <a:pt x="2546731" y="11376660"/>
                    <a:pt x="0" y="8829929"/>
                    <a:pt x="0" y="568833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23315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934527" y="-1934527"/>
            <a:ext cx="6337935" cy="6337935"/>
            <a:chOff x="0" y="0"/>
            <a:chExt cx="8450580" cy="84505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0580" cy="8450580"/>
            </a:xfrm>
            <a:custGeom>
              <a:avLst/>
              <a:gdLst/>
              <a:ahLst/>
              <a:cxnLst/>
              <a:rect r="r" b="b" t="t" l="l"/>
              <a:pathLst>
                <a:path h="8450580" w="8450580">
                  <a:moveTo>
                    <a:pt x="0" y="4225290"/>
                  </a:moveTo>
                  <a:cubicBezTo>
                    <a:pt x="0" y="1891665"/>
                    <a:pt x="1891665" y="0"/>
                    <a:pt x="4225290" y="0"/>
                  </a:cubicBezTo>
                  <a:cubicBezTo>
                    <a:pt x="6558915" y="0"/>
                    <a:pt x="8450580" y="1891665"/>
                    <a:pt x="8450580" y="4225290"/>
                  </a:cubicBezTo>
                  <a:cubicBezTo>
                    <a:pt x="8450580" y="6558915"/>
                    <a:pt x="6558915" y="8450580"/>
                    <a:pt x="4225290" y="8450580"/>
                  </a:cubicBezTo>
                  <a:cubicBezTo>
                    <a:pt x="1891665" y="8450580"/>
                    <a:pt x="0" y="6558915"/>
                    <a:pt x="0" y="422529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23315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2057400"/>
            <a:ext cx="13716000" cy="548640"/>
            <a:chOff x="0" y="0"/>
            <a:chExt cx="182880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30">
                  <a:solidFill>
                    <a:srgbClr val="9FB3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DEFENSE &amp; 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743200"/>
            <a:ext cx="15499080" cy="1371600"/>
            <a:chOff x="0" y="0"/>
            <a:chExt cx="2066544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65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180" r="0" b="-1701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066544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Questions &amp; Technical Discussion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58680">
            <a:off x="1242660" y="4311015"/>
            <a:ext cx="2232984" cy="0"/>
          </a:xfrm>
          <a:prstGeom prst="line">
            <a:avLst/>
          </a:prstGeom>
          <a:ln cap="rnd" w="19050">
            <a:solidFill>
              <a:srgbClr val="9FB3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234440" y="4732020"/>
            <a:ext cx="13030200" cy="1371600"/>
            <a:chOff x="0" y="0"/>
            <a:chExt cx="1737360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7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33350"/>
              <a:ext cx="17373600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250">
                  <a:solidFill>
                    <a:srgbClr val="CBD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Thank you for your time. We welcome questions regarding our project.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4915" y="7602855"/>
            <a:ext cx="3928110" cy="1459230"/>
            <a:chOff x="0" y="0"/>
            <a:chExt cx="5237480" cy="1945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5089271" y="0"/>
                  </a:lnTo>
                  <a:cubicBezTo>
                    <a:pt x="5171186" y="0"/>
                    <a:pt x="5237480" y="66421"/>
                    <a:pt x="5237480" y="148209"/>
                  </a:cubicBezTo>
                  <a:lnTo>
                    <a:pt x="5237480" y="1797431"/>
                  </a:lnTo>
                  <a:cubicBezTo>
                    <a:pt x="5237480" y="1879346"/>
                    <a:pt x="5171059" y="1945640"/>
                    <a:pt x="50892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16214A"/>
            </a:solidFill>
            <a:ln w="19050" cap="sq">
              <a:solidFill>
                <a:srgbClr val="2B3B7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508760" y="7804404"/>
            <a:ext cx="3360420" cy="576072"/>
            <a:chOff x="0" y="0"/>
            <a:chExt cx="448056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80560" cy="768096"/>
            </a:xfrm>
            <a:custGeom>
              <a:avLst/>
              <a:gdLst/>
              <a:ahLst/>
              <a:cxnLst/>
              <a:rect r="r" b="b" t="t" l="l"/>
              <a:pathLst>
                <a:path h="76809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480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Shreeyut Thapa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08760" y="8380476"/>
            <a:ext cx="3360420" cy="466344"/>
            <a:chOff x="0" y="0"/>
            <a:chExt cx="4480560" cy="6217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48056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 No: 080BCT080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518023" y="7602855"/>
            <a:ext cx="3928110" cy="1459230"/>
            <a:chOff x="0" y="0"/>
            <a:chExt cx="5237480" cy="1945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5089271" y="0"/>
                  </a:lnTo>
                  <a:cubicBezTo>
                    <a:pt x="5171186" y="0"/>
                    <a:pt x="5237480" y="66421"/>
                    <a:pt x="5237480" y="148209"/>
                  </a:cubicBezTo>
                  <a:lnTo>
                    <a:pt x="5237480" y="1797431"/>
                  </a:lnTo>
                  <a:cubicBezTo>
                    <a:pt x="5237480" y="1879346"/>
                    <a:pt x="5171059" y="1945640"/>
                    <a:pt x="50892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16214A"/>
            </a:solidFill>
            <a:ln w="19050" cap="sq">
              <a:solidFill>
                <a:srgbClr val="2B3B7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801868" y="7804404"/>
            <a:ext cx="3360420" cy="576072"/>
            <a:chOff x="0" y="0"/>
            <a:chExt cx="4480560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80560" cy="768096"/>
            </a:xfrm>
            <a:custGeom>
              <a:avLst/>
              <a:gdLst/>
              <a:ahLst/>
              <a:cxnLst/>
              <a:rect r="r" b="b" t="t" l="l"/>
              <a:pathLst>
                <a:path h="76809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480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Prabesh BC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01868" y="8380476"/>
            <a:ext cx="3360420" cy="466344"/>
            <a:chOff x="0" y="0"/>
            <a:chExt cx="4480560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48056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 No: 080BCT054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11131" y="7602855"/>
            <a:ext cx="3928110" cy="1459230"/>
            <a:chOff x="0" y="0"/>
            <a:chExt cx="5237480" cy="1945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374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374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5089271" y="0"/>
                  </a:lnTo>
                  <a:cubicBezTo>
                    <a:pt x="5171186" y="0"/>
                    <a:pt x="5237480" y="66421"/>
                    <a:pt x="5237480" y="148209"/>
                  </a:cubicBezTo>
                  <a:lnTo>
                    <a:pt x="5237480" y="1797431"/>
                  </a:lnTo>
                  <a:cubicBezTo>
                    <a:pt x="5237480" y="1879346"/>
                    <a:pt x="5171059" y="1945640"/>
                    <a:pt x="50892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16214A"/>
            </a:solidFill>
            <a:ln w="19050" cap="sq">
              <a:solidFill>
                <a:srgbClr val="2B3B7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094976" y="7804404"/>
            <a:ext cx="3360420" cy="576072"/>
            <a:chOff x="0" y="0"/>
            <a:chExt cx="4480560" cy="7680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80560" cy="768096"/>
            </a:xfrm>
            <a:custGeom>
              <a:avLst/>
              <a:gdLst/>
              <a:ahLst/>
              <a:cxnLst/>
              <a:rect r="r" b="b" t="t" l="l"/>
              <a:pathLst>
                <a:path h="76809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480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Subesh Yadav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094976" y="8380476"/>
            <a:ext cx="3360420" cy="466344"/>
            <a:chOff x="0" y="0"/>
            <a:chExt cx="4480560" cy="6217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48056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 No: 080BCT084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504463" y="9601200"/>
            <a:ext cx="1234440" cy="411480"/>
            <a:chOff x="0" y="0"/>
            <a:chExt cx="164592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6459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14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DAHUln9twRY</dc:identifier>
  <dcterms:modified xsi:type="dcterms:W3CDTF">2011-08-01T06:04:30Z</dcterms:modified>
  <cp:revision>1</cp:revision>
  <dc:title>Gender Classification by Facial Attribute Using SVM &amp; ResNet-18</dc:title>
</cp:coreProperties>
</file>